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Arimo" charset="1" panose="020B0604020202020204"/>
      <p:regular r:id="rId34"/>
    </p:embeddedFont>
    <p:embeddedFont>
      <p:font typeface="Arimo Bold" charset="1" panose="020B0704020202020204"/>
      <p:regular r:id="rId35"/>
    </p:embeddedFont>
    <p:embeddedFont>
      <p:font typeface="Times New Roman Bold" charset="1" panose="02020803070505020304"/>
      <p:regular r:id="rId37"/>
    </p:embeddedFont>
    <p:embeddedFont>
      <p:font typeface="Times New Roman" charset="1" panose="02020603050405020304"/>
      <p:regular r:id="rId38"/>
    </p:embeddedFont>
    <p:embeddedFont>
      <p:font typeface="Times New Roman Italics" charset="1" panose="020205030504050903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notesMasters/notesMaster1.xml" Type="http://schemas.openxmlformats.org/officeDocument/2006/relationships/notesMaster"/><Relationship Id="rId32" Target="theme/theme2.xml" Type="http://schemas.openxmlformats.org/officeDocument/2006/relationships/theme"/><Relationship Id="rId33" Target="notesSlides/notesSlide1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2.xml" Type="http://schemas.openxmlformats.org/officeDocument/2006/relationships/notes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notesSlides/notesSlide3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4.xml" Type="http://schemas.openxmlformats.org/officeDocument/2006/relationships/notesSlide"/><Relationship Id="rId42" Target="notesSlides/notesSlide5.xml" Type="http://schemas.openxmlformats.org/officeDocument/2006/relationships/notesSlide"/><Relationship Id="rId43" Target="notesSlides/notesSlide6.xml" Type="http://schemas.openxmlformats.org/officeDocument/2006/relationships/notesSlide"/><Relationship Id="rId44" Target="notesSlides/notesSlide7.xml" Type="http://schemas.openxmlformats.org/officeDocument/2006/relationships/notesSlide"/><Relationship Id="rId45" Target="notesSlides/notesSlide8.xml" Type="http://schemas.openxmlformats.org/officeDocument/2006/relationships/notesSlide"/><Relationship Id="rId46" Target="notesSlides/notesSlide9.xml" Type="http://schemas.openxmlformats.org/officeDocument/2006/relationships/notesSlide"/><Relationship Id="rId47" Target="notesSlides/notesSlide10.xml" Type="http://schemas.openxmlformats.org/officeDocument/2006/relationships/notesSlide"/><Relationship Id="rId48" Target="notesSlides/notesSlide11.xml" Type="http://schemas.openxmlformats.org/officeDocument/2006/relationships/notesSlide"/><Relationship Id="rId49" Target="notesSlides/notesSlide12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3.xml" Type="http://schemas.openxmlformats.org/officeDocument/2006/relationships/notesSlide"/><Relationship Id="rId51" Target="notesSlides/notesSlide14.xml" Type="http://schemas.openxmlformats.org/officeDocument/2006/relationships/notesSlide"/><Relationship Id="rId52" Target="notesSlides/notesSlide15.xml" Type="http://schemas.openxmlformats.org/officeDocument/2006/relationships/notesSlide"/><Relationship Id="rId53" Target="notesSlides/notesSlide16.xml" Type="http://schemas.openxmlformats.org/officeDocument/2006/relationships/notesSlide"/><Relationship Id="rId54" Target="notesSlides/notesSlide17.xml" Type="http://schemas.openxmlformats.org/officeDocument/2006/relationships/notesSlide"/><Relationship Id="rId55" Target="notesSlides/notesSlide18.xml" Type="http://schemas.openxmlformats.org/officeDocument/2006/relationships/notesSlide"/><Relationship Id="rId56" Target="notesSlides/notesSlide19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Relationship Id="rId6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Relationship Id="rId4" Target="../media/image1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Relationship Id="rId5" Target="../media/image17.jpeg" Type="http://schemas.openxmlformats.org/officeDocument/2006/relationships/image"/><Relationship Id="rId6" Target="../media/image3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146422" y="1127274"/>
            <a:ext cx="5893203" cy="1999859"/>
            <a:chOff x="0" y="0"/>
            <a:chExt cx="7857604" cy="2666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57617" cy="2666492"/>
            </a:xfrm>
            <a:custGeom>
              <a:avLst/>
              <a:gdLst/>
              <a:ahLst/>
              <a:cxnLst/>
              <a:rect r="r" b="b" t="t" l="l"/>
              <a:pathLst>
                <a:path h="2666492" w="7857617">
                  <a:moveTo>
                    <a:pt x="0" y="0"/>
                  </a:moveTo>
                  <a:lnTo>
                    <a:pt x="7857617" y="0"/>
                  </a:lnTo>
                  <a:lnTo>
                    <a:pt x="7857617" y="2666492"/>
                  </a:lnTo>
                  <a:lnTo>
                    <a:pt x="0" y="266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8954" t="-264873" r="-89106" b="-26540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96425" y="6107582"/>
            <a:ext cx="15604836" cy="61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4350">
                <a:solidFill>
                  <a:srgbClr val="444848"/>
                </a:solidFill>
                <a:latin typeface="Arimo"/>
                <a:ea typeface="Arimo"/>
                <a:cs typeface="Arimo"/>
                <a:sym typeface="Arimo"/>
              </a:rPr>
              <a:t>Section 2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57005" y="4583125"/>
            <a:ext cx="15774000" cy="1352550"/>
            <a:chOff x="0" y="0"/>
            <a:chExt cx="21032000" cy="1803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2000" cy="1803400"/>
            </a:xfrm>
            <a:custGeom>
              <a:avLst/>
              <a:gdLst/>
              <a:ahLst/>
              <a:cxnLst/>
              <a:rect r="r" b="b" t="t" l="l"/>
              <a:pathLst>
                <a:path h="1803400" w="21032000">
                  <a:moveTo>
                    <a:pt x="0" y="0"/>
                  </a:moveTo>
                  <a:lnTo>
                    <a:pt x="21032000" y="0"/>
                  </a:lnTo>
                  <a:lnTo>
                    <a:pt x="21032000" y="1803400"/>
                  </a:lnTo>
                  <a:lnTo>
                    <a:pt x="0" y="180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7242" r="0" b="-1772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38100"/>
              <a:ext cx="21032000" cy="17653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670"/>
                </a:lnSpc>
              </a:pPr>
              <a:r>
                <a:rPr lang="en-US" b="true" sz="5250">
                  <a:solidFill>
                    <a:srgbClr val="7D191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Group 1: Intelligent Transportation System (M5)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7745" y="9058418"/>
            <a:ext cx="2048723" cy="898484"/>
            <a:chOff x="0" y="0"/>
            <a:chExt cx="2731630" cy="1197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68407" y="264555"/>
            <a:ext cx="15773400" cy="894720"/>
            <a:chOff x="0" y="0"/>
            <a:chExt cx="21031200" cy="1192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192960"/>
            </a:xfrm>
            <a:custGeom>
              <a:avLst/>
              <a:gdLst/>
              <a:ahLst/>
              <a:cxnLst/>
              <a:rect r="r" b="b" t="t" l="l"/>
              <a:pathLst>
                <a:path h="11929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192960"/>
                  </a:lnTo>
                  <a:lnTo>
                    <a:pt x="0" y="1192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1273" r="0" b="-2857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21031200" cy="11739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816"/>
                </a:lnSpc>
              </a:pPr>
              <a:r>
                <a:rPr lang="en-US" sz="4460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Background and Motivation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102246" cy="77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| 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38220" y="1196836"/>
            <a:ext cx="16951185" cy="8900203"/>
            <a:chOff x="0" y="0"/>
            <a:chExt cx="22601580" cy="118669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601582" cy="11866941"/>
            </a:xfrm>
            <a:custGeom>
              <a:avLst/>
              <a:gdLst/>
              <a:ahLst/>
              <a:cxnLst/>
              <a:rect r="r" b="b" t="t" l="l"/>
              <a:pathLst>
                <a:path h="11866941" w="22601582">
                  <a:moveTo>
                    <a:pt x="0" y="0"/>
                  </a:moveTo>
                  <a:lnTo>
                    <a:pt x="22601582" y="0"/>
                  </a:lnTo>
                  <a:lnTo>
                    <a:pt x="22601582" y="11866941"/>
                  </a:lnTo>
                  <a:lnTo>
                    <a:pt x="0" y="1186694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714" r="0" b="4149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2601580" cy="118955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3840"/>
                </a:lnSpc>
                <a:buFont typeface="Arial"/>
                <a:buChar char="•"/>
              </a:pPr>
              <a:r>
                <a:rPr lang="en-US" b="true" sz="32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Bridging Theory and Application</a:t>
              </a:r>
              <a:r>
                <a:rPr lang="en-US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The primary academic motivation was to transition from solving static probability problems on paper to building a dynamic Digital Twin of a stochastic system.</a:t>
              </a:r>
            </a:p>
            <a:p>
              <a:pPr algn="l">
                <a:lnSpc>
                  <a:spcPts val="3840"/>
                </a:lnSpc>
              </a:pPr>
            </a:p>
            <a:p>
              <a:pPr algn="l" marL="579120" indent="-289560" lvl="1">
                <a:lnSpc>
                  <a:spcPts val="3840"/>
                </a:lnSpc>
                <a:buFont typeface="Arial"/>
                <a:buChar char="•"/>
              </a:pPr>
              <a:r>
                <a:rPr lang="en-US" b="true" sz="32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Modeling Reality with Stochastic Processes:</a:t>
              </a:r>
            </a:p>
            <a:p>
              <a:pPr algn="l" marL="579120" indent="-193040" lvl="2">
                <a:lnSpc>
                  <a:spcPts val="3840"/>
                </a:lnSpc>
                <a:buFont typeface="Arial"/>
                <a:buChar char="⚬"/>
              </a:pPr>
              <a:r>
                <a:rPr lang="en-US" b="true" sz="32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Arrivals</a:t>
              </a:r>
              <a:r>
                <a:rPr lang="en-US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Moving beyond "constant" rates by implementing Poisson Point Processes and Exponential Inter-arrival Distributions to replicate the "clumpy" nature of real traffic.</a:t>
              </a:r>
            </a:p>
            <a:p>
              <a:pPr algn="l" marL="579120" indent="-193040" lvl="2">
                <a:lnSpc>
                  <a:spcPts val="3840"/>
                </a:lnSpc>
                <a:buFont typeface="Arial"/>
                <a:buChar char="⚬"/>
              </a:pPr>
              <a:r>
                <a:rPr lang="en-US" b="true" sz="32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Speeds:</a:t>
              </a:r>
              <a:r>
                <a:rPr lang="en-US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Using Normal Distributions {N(miu,sigma square)} to model human variability in driver behavior, rather than assuming uniform vehicle movement.</a:t>
              </a:r>
            </a:p>
            <a:p>
              <a:pPr algn="l">
                <a:lnSpc>
                  <a:spcPts val="3840"/>
                </a:lnSpc>
              </a:pPr>
            </a:p>
            <a:p>
              <a:pPr algn="l" marL="579120" indent="-289560" lvl="1">
                <a:lnSpc>
                  <a:spcPts val="3840"/>
                </a:lnSpc>
                <a:buFont typeface="Arial"/>
                <a:buChar char="•"/>
              </a:pPr>
              <a:r>
                <a:rPr lang="en-US" b="true" sz="32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Algorithmic Evolution (State-Dependency):</a:t>
              </a:r>
            </a:p>
            <a:p>
              <a:pPr algn="l" marL="579120" indent="-193040" lvl="2">
                <a:lnSpc>
                  <a:spcPts val="3840"/>
                </a:lnSpc>
                <a:buFont typeface="Arial"/>
                <a:buChar char="⚬"/>
              </a:pPr>
              <a:r>
                <a:rPr lang="en-US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Moving from a State-Independent baseline (Milestone 3), where decisions are a function of time, to a State-Dependent Markovian Model (Milestones 4 &amp; 5), where decisions are a function of the current queue state.</a:t>
              </a:r>
            </a:p>
            <a:p>
              <a:pPr algn="l" marL="579120" indent="-193040" lvl="2">
                <a:lnSpc>
                  <a:spcPts val="3840"/>
                </a:lnSpc>
                <a:buFont typeface="Arial"/>
                <a:buChar char="⚬"/>
              </a:pPr>
              <a:r>
                <a:rPr lang="en-US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Implementing the Poisson Marking Property to allow for intelligent, weighted randomization in signal switching.</a:t>
              </a:r>
            </a:p>
            <a:p>
              <a:pPr algn="l">
                <a:lnSpc>
                  <a:spcPts val="3840"/>
                </a:lnSpc>
              </a:pPr>
            </a:p>
            <a:p>
              <a:pPr algn="l" marL="579120" indent="-289560" lvl="1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102246" cy="77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|  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7745" y="570897"/>
            <a:ext cx="16951185" cy="10237881"/>
            <a:chOff x="0" y="0"/>
            <a:chExt cx="22601580" cy="136505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01582" cy="13650511"/>
            </a:xfrm>
            <a:custGeom>
              <a:avLst/>
              <a:gdLst/>
              <a:ahLst/>
              <a:cxnLst/>
              <a:rect r="r" b="b" t="t" l="l"/>
              <a:pathLst>
                <a:path h="13650511" w="22601582">
                  <a:moveTo>
                    <a:pt x="0" y="0"/>
                  </a:moveTo>
                  <a:lnTo>
                    <a:pt x="22601582" y="0"/>
                  </a:lnTo>
                  <a:lnTo>
                    <a:pt x="22601582" y="13650511"/>
                  </a:lnTo>
                  <a:lnTo>
                    <a:pt x="0" y="1365051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660" r="0" b="4913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2601580" cy="136790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47702" indent="-323851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Rigorous Mathematical Validation:</a:t>
              </a: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Using Little’s Law (L = lambda*W) to verify that the simulation's internal logic is consistent with queuing theory.</a:t>
              </a:r>
            </a:p>
            <a:p>
              <a:pPr algn="l" marL="1295403" indent="-431801" lvl="2">
                <a:lnSpc>
                  <a:spcPts val="3600"/>
                </a:lnSpc>
                <a:buFont typeface="Arial"/>
                <a:buChar char="⚬"/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Applying Markov’s Inequality to provide theoretical upper bounds on waiting times and ensure system stability.</a:t>
              </a:r>
            </a:p>
            <a:p>
              <a:pPr algn="l">
                <a:lnSpc>
                  <a:spcPts val="3480"/>
                </a:lnSpc>
              </a:pPr>
              <a:r>
                <a:rPr lang="en-US" sz="2900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“Real traffic is inherently random and bursty, so fixed deterministic models fail to capture real-world behavior.”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Real-World Perspective: Urban Efficiency &amp; Sustainability</a:t>
              </a:r>
            </a:p>
            <a:p>
              <a:pPr algn="l" marL="647702" indent="-323851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"Blind Robot" Problem:</a:t>
              </a: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Conventional fixed-cycle lights cause Idle Green Time (wasted green for empty lanes) and unnecessary congestion.</a:t>
              </a:r>
            </a:p>
            <a:p>
              <a:pPr algn="l">
                <a:lnSpc>
                  <a:spcPts val="3600"/>
                </a:lnSpc>
              </a:pPr>
            </a:p>
            <a:p>
              <a:pPr algn="l" marL="647702" indent="-323851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Pain Metric:</a:t>
              </a: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Focused on minimizing Expected Waiting Time (E[W]) to reduce fuel consumption, CO2 emissions, and commuter delay.</a:t>
              </a:r>
            </a:p>
            <a:p>
              <a:pPr algn="l">
                <a:lnSpc>
                  <a:spcPts val="3600"/>
                </a:lnSpc>
              </a:pPr>
            </a:p>
            <a:p>
              <a:pPr algn="l" marL="647702" indent="-323851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Temporal Adaptability:</a:t>
              </a: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Implemented lambda(t) (Temporal Dependence) so the system "breathes" with the city prioritizing "Big Crowds" during peaks and shortening cycles during "Slack Time."</a:t>
              </a:r>
            </a:p>
            <a:p>
              <a:pPr algn="l">
                <a:lnSpc>
                  <a:spcPts val="3600"/>
                </a:lnSpc>
              </a:pPr>
            </a:p>
            <a:p>
              <a:pPr algn="l" marL="647702" indent="-323851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Objective:</a:t>
              </a: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To replace rigid infrastructure with Intelligent Signal Control that reacts to real-time queue states.</a:t>
              </a:r>
            </a:p>
            <a:p>
              <a:pPr algn="l">
                <a:lnSpc>
                  <a:spcPts val="3480"/>
                </a:lnSpc>
              </a:pPr>
              <a:r>
                <a:rPr lang="en-US" sz="2900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“Improving signal efficiency directly reduces fuel consumption, emissions, and commuter delays.”</a:t>
              </a:r>
            </a:p>
            <a:p>
              <a:pPr algn="l">
                <a:lnSpc>
                  <a:spcPts val="3720"/>
                </a:lnSpc>
              </a:pPr>
            </a:p>
            <a:p>
              <a:pPr algn="l">
                <a:lnSpc>
                  <a:spcPts val="3840"/>
                </a:lnSpc>
              </a:pPr>
            </a:p>
            <a:p>
              <a:pPr algn="l" marL="579120" indent="-289560" lvl="1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102246" cy="77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|  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7745" y="521854"/>
            <a:ext cx="16951185" cy="9547675"/>
            <a:chOff x="0" y="0"/>
            <a:chExt cx="22601580" cy="127302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01582" cy="12730237"/>
            </a:xfrm>
            <a:custGeom>
              <a:avLst/>
              <a:gdLst/>
              <a:ahLst/>
              <a:cxnLst/>
              <a:rect r="r" b="b" t="t" l="l"/>
              <a:pathLst>
                <a:path h="12730237" w="22601582">
                  <a:moveTo>
                    <a:pt x="0" y="0"/>
                  </a:moveTo>
                  <a:lnTo>
                    <a:pt x="22601582" y="0"/>
                  </a:lnTo>
                  <a:lnTo>
                    <a:pt x="22601582" y="12730237"/>
                  </a:lnTo>
                  <a:lnTo>
                    <a:pt x="0" y="1273023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648" r="0" b="4545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2601580" cy="127492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79"/>
                </a:lnSpc>
              </a:pPr>
              <a:r>
                <a:rPr lang="en-US" sz="4399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Base Paper Overview</a:t>
              </a:r>
            </a:p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Paper:</a:t>
              </a: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Theory of Poisson Point Process and its Application to Traffic Modelling </a:t>
              </a: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Author:</a:t>
              </a: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Io Kuan Vong (University of Melbourne / AMSI)</a:t>
              </a:r>
            </a:p>
            <a:p>
              <a:pPr algn="l">
                <a:lnSpc>
                  <a:spcPts val="4320"/>
                </a:lnSpc>
              </a:pP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 </a:t>
              </a: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Main Idea: Stochastic Traffic Foundations</a:t>
              </a:r>
            </a:p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paper explores the Poisson Point Process (PPP) as the fundamental mathematical framework for modeling random events in a given space or time.</a:t>
              </a:r>
            </a:p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It transitions from abstract probability theory to a practical Road Traffic Model, treating vehicle arrivals not as a steady stream, but as a series of independent, random points (stochastic process).</a:t>
              </a:r>
            </a:p>
            <a:p>
              <a:pPr algn="l">
                <a:lnSpc>
                  <a:spcPts val="4320"/>
                </a:lnSpc>
              </a:pP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2. </a:t>
              </a: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Key Contributions</a:t>
              </a:r>
            </a:p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Mathematical Properties: Investigates the Marking and Coloring Properties of Poisson processes, which allow for splitting a single traffic flow into multiple independent directions (e.g., North, South, East, West).</a:t>
              </a:r>
            </a:p>
            <a:p>
              <a:pPr algn="l">
                <a:lnSpc>
                  <a:spcPts val="4320"/>
                </a:lnSpc>
              </a:pPr>
            </a:p>
            <a:p>
              <a:pPr algn="l" marL="651510" indent="-325755" lvl="1">
                <a:lnSpc>
                  <a:spcPts val="432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102246" cy="77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|  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38220" y="596411"/>
            <a:ext cx="16951185" cy="9947895"/>
            <a:chOff x="0" y="0"/>
            <a:chExt cx="22601580" cy="132638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01582" cy="13263863"/>
            </a:xfrm>
            <a:custGeom>
              <a:avLst/>
              <a:gdLst/>
              <a:ahLst/>
              <a:cxnLst/>
              <a:rect r="r" b="b" t="t" l="l"/>
              <a:pathLst>
                <a:path h="13263863" w="22601582">
                  <a:moveTo>
                    <a:pt x="0" y="0"/>
                  </a:moveTo>
                  <a:lnTo>
                    <a:pt x="22601582" y="0"/>
                  </a:lnTo>
                  <a:lnTo>
                    <a:pt x="22601582" y="13263863"/>
                  </a:lnTo>
                  <a:lnTo>
                    <a:pt x="0" y="132638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059" r="0" b="4765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2601580" cy="13292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Product Space Representation: Extends simple models to higher dimensions to account for variables like Time-Dependent Arrival Rates ($\lambda(t)$) and varying vehicle speeds.</a:t>
              </a:r>
            </a:p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Statistical Validation: Uses Pearson’s Chi-Squared Goodness-of-Fit Test to prove that modeling vehicle counts as a Poisson process is statistically reliable and reflects real-world observation.</a:t>
              </a:r>
            </a:p>
            <a:p>
              <a:pPr algn="l">
                <a:lnSpc>
                  <a:spcPts val="4320"/>
                </a:lnSpc>
              </a:pP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3. </a:t>
              </a: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Significance to Our Project</a:t>
              </a:r>
            </a:p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"Smart Dice" Logic: We adopted the paper’s Marking Property to implement our weighted randomization logic in Milestone 4 and 5.</a:t>
              </a:r>
            </a:p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Realistic Simulation: Provided the theoretical justification for using Exponential Inter-arrival Times and Poisson Distributions to move away from deterministic models.</a:t>
              </a:r>
            </a:p>
            <a:p>
              <a:pPr algn="l">
                <a:lnSpc>
                  <a:spcPts val="4320"/>
                </a:lnSpc>
              </a:pPr>
            </a:p>
            <a:p>
              <a:pPr algn="l">
                <a:lnSpc>
                  <a:spcPts val="4320"/>
                </a:lnSpc>
              </a:pPr>
              <a:r>
                <a:rPr lang="en-US" sz="3600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“Poisson processes are used because they realistically model independent and random vehicle arrivals.”</a:t>
              </a:r>
            </a:p>
            <a:p>
              <a:pPr algn="l">
                <a:lnSpc>
                  <a:spcPts val="4320"/>
                </a:lnSpc>
              </a:pPr>
            </a:p>
            <a:p>
              <a:pPr algn="l">
                <a:lnSpc>
                  <a:spcPts val="4320"/>
                </a:lnSpc>
              </a:pPr>
            </a:p>
            <a:p>
              <a:pPr algn="l" marL="651510" indent="-325755" lvl="1">
                <a:lnSpc>
                  <a:spcPts val="432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1272122"/>
            <a:ext cx="15773400" cy="3536364"/>
            <a:chOff x="0" y="0"/>
            <a:chExt cx="21031200" cy="47151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4715150"/>
            </a:xfrm>
            <a:custGeom>
              <a:avLst/>
              <a:gdLst/>
              <a:ahLst/>
              <a:cxnLst/>
              <a:rect r="r" b="b" t="t" l="l"/>
              <a:pathLst>
                <a:path h="471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4715150"/>
                  </a:lnTo>
                  <a:lnTo>
                    <a:pt x="0" y="47151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223" r="0" b="240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468657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859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Formulation</a:t>
              </a:r>
            </a:p>
            <a:p>
              <a:pPr algn="l">
                <a:lnSpc>
                  <a:spcPts val="5248"/>
                </a:lnSpc>
              </a:pPr>
              <a:r>
                <a:rPr lang="en-US" sz="4859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Core Problem</a:t>
              </a:r>
            </a:p>
            <a:p>
              <a:pPr algn="l">
                <a:lnSpc>
                  <a:spcPts val="5248"/>
                </a:lnSpc>
              </a:pPr>
            </a:p>
            <a:p>
              <a:pPr algn="l">
                <a:lnSpc>
                  <a:spcPts val="5248"/>
                </a:lnSpc>
              </a:pPr>
            </a:p>
            <a:p>
              <a:pPr algn="l">
                <a:lnSpc>
                  <a:spcPts val="481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1071" y="3040304"/>
            <a:ext cx="16951185" cy="3808736"/>
            <a:chOff x="0" y="0"/>
            <a:chExt cx="22601580" cy="50783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01582" cy="5078317"/>
            </a:xfrm>
            <a:custGeom>
              <a:avLst/>
              <a:gdLst/>
              <a:ahLst/>
              <a:cxnLst/>
              <a:rect r="r" b="b" t="t" l="l"/>
              <a:pathLst>
                <a:path h="5078317" w="22601582">
                  <a:moveTo>
                    <a:pt x="0" y="0"/>
                  </a:moveTo>
                  <a:lnTo>
                    <a:pt x="22601582" y="0"/>
                  </a:lnTo>
                  <a:lnTo>
                    <a:pt x="22601582" y="5078317"/>
                  </a:lnTo>
                  <a:lnTo>
                    <a:pt x="0" y="507831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720" r="0" b="-3672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2601580" cy="5097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Design an adaptive traffic signal control algorithm for an isolated four‑way intersection that minimizes the expected waiting time of vehicles, given that vehicle arrivals and speeds are stochastic.</a:t>
              </a:r>
            </a:p>
            <a:p>
              <a:pPr algn="l">
                <a:lnSpc>
                  <a:spcPts val="5039"/>
                </a:lnSpc>
              </a:pPr>
            </a:p>
            <a:p>
              <a:pPr algn="l" marL="760088" indent="-380044" lvl="1">
                <a:lnSpc>
                  <a:spcPts val="503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1272122"/>
            <a:ext cx="15773400" cy="3536364"/>
            <a:chOff x="0" y="0"/>
            <a:chExt cx="21031200" cy="47151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4715150"/>
            </a:xfrm>
            <a:custGeom>
              <a:avLst/>
              <a:gdLst/>
              <a:ahLst/>
              <a:cxnLst/>
              <a:rect r="r" b="b" t="t" l="l"/>
              <a:pathLst>
                <a:path h="471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4715150"/>
                  </a:lnTo>
                  <a:lnTo>
                    <a:pt x="0" y="47151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223" r="0" b="240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468657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859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 Boundaries &amp; Assumptions</a:t>
              </a:r>
            </a:p>
            <a:p>
              <a:pPr algn="l">
                <a:lnSpc>
                  <a:spcPts val="5248"/>
                </a:lnSpc>
              </a:pPr>
            </a:p>
            <a:p>
              <a:pPr algn="l">
                <a:lnSpc>
                  <a:spcPts val="5248"/>
                </a:lnSpc>
              </a:pPr>
            </a:p>
            <a:p>
              <a:pPr algn="l">
                <a:lnSpc>
                  <a:spcPts val="5248"/>
                </a:lnSpc>
              </a:pPr>
            </a:p>
            <a:p>
              <a:pPr algn="l">
                <a:lnSpc>
                  <a:spcPts val="481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1071" y="3040304"/>
            <a:ext cx="16951185" cy="5309851"/>
            <a:chOff x="0" y="0"/>
            <a:chExt cx="22601580" cy="70798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01582" cy="7079804"/>
            </a:xfrm>
            <a:custGeom>
              <a:avLst/>
              <a:gdLst/>
              <a:ahLst/>
              <a:cxnLst/>
              <a:rect r="r" b="b" t="t" l="l"/>
              <a:pathLst>
                <a:path h="7079804" w="22601582">
                  <a:moveTo>
                    <a:pt x="0" y="0"/>
                  </a:moveTo>
                  <a:lnTo>
                    <a:pt x="22601582" y="0"/>
                  </a:lnTo>
                  <a:lnTo>
                    <a:pt x="22601582" y="7079804"/>
                  </a:lnTo>
                  <a:lnTo>
                    <a:pt x="0" y="70798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339" r="0" b="193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2601580" cy="70988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60088" indent="-380044" lvl="1">
                <a:lnSpc>
                  <a:spcPts val="5039"/>
                </a:lnSpc>
                <a:buFont typeface="Arial"/>
                <a:buChar char="•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Single isolated four‑way intersection (no coordination with nearby signals).</a:t>
              </a:r>
            </a:p>
            <a:p>
              <a:pPr algn="l" marL="760088" indent="-380044" lvl="1">
                <a:lnSpc>
                  <a:spcPts val="5039"/>
                </a:lnSpc>
                <a:buFont typeface="Arial"/>
                <a:buChar char="•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Two competing directions: North‑South (NS) and East‑West (EW).</a:t>
              </a:r>
            </a:p>
            <a:p>
              <a:pPr algn="l" marL="760088" indent="-380044" lvl="1">
                <a:lnSpc>
                  <a:spcPts val="5039"/>
                </a:lnSpc>
                <a:buFont typeface="Arial"/>
                <a:buChar char="•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Vehicles arrive only from these approaches; turning movements are aggregated (simplified).</a:t>
              </a:r>
            </a:p>
            <a:p>
              <a:pPr algn="l" marL="760088" indent="-380044" lvl="1">
                <a:lnSpc>
                  <a:spcPts val="5039"/>
                </a:lnSpc>
                <a:buFont typeface="Arial"/>
                <a:buChar char="•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Sensors provide perfect queue length measurements (no noise in baseline).</a:t>
              </a:r>
            </a:p>
            <a:p>
              <a:pPr algn="l" marL="760088" indent="-380044" lvl="1">
                <a:lnSpc>
                  <a:spcPts val="5039"/>
                </a:lnSpc>
                <a:buFont typeface="Arial"/>
                <a:buChar char="•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spillback (queues do not block upstream intersections).</a:t>
              </a:r>
            </a:p>
            <a:p>
              <a:pPr algn="l" marL="760088" indent="-380044" lvl="1">
                <a:lnSpc>
                  <a:spcPts val="5039"/>
                </a:lnSpc>
                <a:buFont typeface="Arial"/>
                <a:buChar char="•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Vehicles depart at a fixed saturation flow rate during green.</a:t>
              </a:r>
            </a:p>
            <a:p>
              <a:pPr algn="l" marL="760088" indent="-380044" lvl="1">
                <a:lnSpc>
                  <a:spcPts val="503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382534"/>
            <a:ext cx="15773400" cy="2879139"/>
            <a:chOff x="0" y="0"/>
            <a:chExt cx="21031200" cy="38388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3838851"/>
            </a:xfrm>
            <a:custGeom>
              <a:avLst/>
              <a:gdLst/>
              <a:ahLst/>
              <a:cxnLst/>
              <a:rect r="r" b="b" t="t" l="l"/>
              <a:pathLst>
                <a:path h="3838851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3838851"/>
                  </a:lnTo>
                  <a:lnTo>
                    <a:pt x="0" y="38388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623" r="0" b="-1987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381027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859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Queue Evolution Equation</a:t>
              </a:r>
            </a:p>
            <a:p>
              <a:pPr algn="l">
                <a:lnSpc>
                  <a:spcPts val="5248"/>
                </a:lnSpc>
              </a:pPr>
            </a:p>
            <a:p>
              <a:pPr algn="l">
                <a:lnSpc>
                  <a:spcPts val="5248"/>
                </a:lnSpc>
              </a:pPr>
            </a:p>
            <a:p>
              <a:pPr algn="l">
                <a:lnSpc>
                  <a:spcPts val="481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102246" cy="773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68407" y="4084252"/>
            <a:ext cx="16951185" cy="5423407"/>
            <a:chOff x="0" y="0"/>
            <a:chExt cx="22601580" cy="72312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601582" cy="7231213"/>
            </a:xfrm>
            <a:custGeom>
              <a:avLst/>
              <a:gdLst/>
              <a:ahLst/>
              <a:cxnLst/>
              <a:rect r="r" b="b" t="t" l="l"/>
              <a:pathLst>
                <a:path h="7231213" w="22601582">
                  <a:moveTo>
                    <a:pt x="0" y="0"/>
                  </a:moveTo>
                  <a:lnTo>
                    <a:pt x="22601582" y="0"/>
                  </a:lnTo>
                  <a:lnTo>
                    <a:pt x="22601582" y="7231213"/>
                  </a:lnTo>
                  <a:lnTo>
                    <a:pt x="0" y="723121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787" r="0" b="398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2601580" cy="7250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where Di(Δt)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D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i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​(Δ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t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 is the number of departures during green:</a:t>
              </a:r>
            </a:p>
            <a:p>
              <a:pPr algn="l">
                <a:lnSpc>
                  <a:spcPts val="5039"/>
                </a:lnSpc>
              </a:pPr>
            </a:p>
            <a:p>
              <a:pPr algn="l">
                <a:lnSpc>
                  <a:spcPts val="5039"/>
                </a:lnSpc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Di(Δt)=min⁡(Qi(t), service_rate⋅Δt)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D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i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​(Δ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t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)=min(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Q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i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​(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t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),service_rate⋅Δ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t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 if lane i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i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has green, else 00.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989455" y="3227188"/>
            <a:ext cx="11851890" cy="1125331"/>
          </a:xfrm>
          <a:custGeom>
            <a:avLst/>
            <a:gdLst/>
            <a:ahLst/>
            <a:cxnLst/>
            <a:rect r="r" b="b" t="t" l="l"/>
            <a:pathLst>
              <a:path h="1125331" w="11851890">
                <a:moveTo>
                  <a:pt x="0" y="0"/>
                </a:moveTo>
                <a:lnTo>
                  <a:pt x="11851890" y="0"/>
                </a:lnTo>
                <a:lnTo>
                  <a:pt x="11851890" y="1125331"/>
                </a:lnTo>
                <a:lnTo>
                  <a:pt x="0" y="1125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382534"/>
            <a:ext cx="15773400" cy="2879139"/>
            <a:chOff x="0" y="0"/>
            <a:chExt cx="21031200" cy="38388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3838851"/>
            </a:xfrm>
            <a:custGeom>
              <a:avLst/>
              <a:gdLst/>
              <a:ahLst/>
              <a:cxnLst/>
              <a:rect r="r" b="b" t="t" l="l"/>
              <a:pathLst>
                <a:path h="3838851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3838851"/>
                  </a:lnTo>
                  <a:lnTo>
                    <a:pt x="0" y="38388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623" r="0" b="-1987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381027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859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 Function</a:t>
              </a:r>
            </a:p>
            <a:p>
              <a:pPr algn="l">
                <a:lnSpc>
                  <a:spcPts val="5248"/>
                </a:lnSpc>
              </a:pPr>
            </a:p>
            <a:p>
              <a:pPr algn="l">
                <a:lnSpc>
                  <a:spcPts val="5248"/>
                </a:lnSpc>
              </a:pPr>
            </a:p>
            <a:p>
              <a:pPr algn="l">
                <a:lnSpc>
                  <a:spcPts val="481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8407" y="4286678"/>
            <a:ext cx="16951185" cy="5423407"/>
            <a:chOff x="0" y="0"/>
            <a:chExt cx="22601580" cy="72312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01582" cy="7231213"/>
            </a:xfrm>
            <a:custGeom>
              <a:avLst/>
              <a:gdLst/>
              <a:ahLst/>
              <a:cxnLst/>
              <a:rect r="r" b="b" t="t" l="l"/>
              <a:pathLst>
                <a:path h="7231213" w="22601582">
                  <a:moveTo>
                    <a:pt x="0" y="0"/>
                  </a:moveTo>
                  <a:lnTo>
                    <a:pt x="22601582" y="0"/>
                  </a:lnTo>
                  <a:lnTo>
                    <a:pt x="22601582" y="7231213"/>
                  </a:lnTo>
                  <a:lnTo>
                    <a:pt x="0" y="723121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787" r="0" b="398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2601580" cy="7250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~ where Wj waiting time of vehicle j (time from arrival to departure).</a:t>
              </a:r>
            </a:p>
            <a:p>
              <a:pPr algn="l">
                <a:lnSpc>
                  <a:spcPts val="5039"/>
                </a:lnSpc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Subject to:</a:t>
              </a:r>
            </a:p>
            <a:p>
              <a:pPr algn="l" marL="760088" indent="-380044" lvl="1">
                <a:lnSpc>
                  <a:spcPts val="5039"/>
                </a:lnSpc>
                <a:buFont typeface="Arial"/>
                <a:buChar char="•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Green times are non‑negative.</a:t>
              </a:r>
            </a:p>
            <a:p>
              <a:pPr algn="l" marL="760088" indent="-380044" lvl="1">
                <a:lnSpc>
                  <a:spcPts val="5039"/>
                </a:lnSpc>
                <a:buFont typeface="Arial"/>
                <a:buChar char="•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Only one direction gets green at a time.</a:t>
              </a:r>
            </a:p>
            <a:p>
              <a:pPr algn="l" marL="906772" indent="-453386" lvl="1">
                <a:lnSpc>
                  <a:spcPts val="5039"/>
                </a:lnSpc>
                <a:buFont typeface="Arial"/>
                <a:buChar char="•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Phase switching can only happen after a minimum green time (implicitly handled by decision epochs).</a:t>
              </a:r>
            </a:p>
            <a:p>
              <a:pPr algn="l" marL="760088" indent="-380044" lvl="1">
                <a:lnSpc>
                  <a:spcPts val="50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989970" y="2898946"/>
            <a:ext cx="5850860" cy="1453573"/>
          </a:xfrm>
          <a:custGeom>
            <a:avLst/>
            <a:gdLst/>
            <a:ahLst/>
            <a:cxnLst/>
            <a:rect r="r" b="b" t="t" l="l"/>
            <a:pathLst>
              <a:path h="1453573" w="5850860">
                <a:moveTo>
                  <a:pt x="0" y="0"/>
                </a:moveTo>
                <a:lnTo>
                  <a:pt x="5850860" y="0"/>
                </a:lnTo>
                <a:lnTo>
                  <a:pt x="5850860" y="1453573"/>
                </a:lnTo>
                <a:lnTo>
                  <a:pt x="0" y="14535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1272122"/>
            <a:ext cx="15773400" cy="2879139"/>
            <a:chOff x="0" y="0"/>
            <a:chExt cx="21031200" cy="38388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3838851"/>
            </a:xfrm>
            <a:custGeom>
              <a:avLst/>
              <a:gdLst/>
              <a:ahLst/>
              <a:cxnLst/>
              <a:rect r="r" b="b" t="t" l="l"/>
              <a:pathLst>
                <a:path h="3838851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3838851"/>
                  </a:lnTo>
                  <a:lnTo>
                    <a:pt x="0" y="38388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623" r="0" b="-1987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381027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859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Why This Formulation is Appropriate</a:t>
              </a:r>
            </a:p>
            <a:p>
              <a:pPr algn="l">
                <a:lnSpc>
                  <a:spcPts val="5248"/>
                </a:lnSpc>
              </a:pPr>
            </a:p>
            <a:p>
              <a:pPr algn="l">
                <a:lnSpc>
                  <a:spcPts val="5248"/>
                </a:lnSpc>
              </a:pPr>
            </a:p>
            <a:p>
              <a:pPr algn="l">
                <a:lnSpc>
                  <a:spcPts val="481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1071" y="2258251"/>
            <a:ext cx="16951185" cy="6091903"/>
            <a:chOff x="0" y="0"/>
            <a:chExt cx="22601580" cy="8122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01582" cy="8122541"/>
            </a:xfrm>
            <a:custGeom>
              <a:avLst/>
              <a:gdLst/>
              <a:ahLst/>
              <a:cxnLst/>
              <a:rect r="r" b="b" t="t" l="l"/>
              <a:pathLst>
                <a:path h="8122541" w="22601582">
                  <a:moveTo>
                    <a:pt x="0" y="0"/>
                  </a:moveTo>
                  <a:lnTo>
                    <a:pt x="22601582" y="0"/>
                  </a:lnTo>
                  <a:lnTo>
                    <a:pt x="22601582" y="8122541"/>
                  </a:lnTo>
                  <a:lnTo>
                    <a:pt x="0" y="812254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957" r="0" b="1452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2601580" cy="8141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</a:p>
            <a:p>
              <a:pPr algn="l" marL="760088" indent="-380044" lvl="1">
                <a:lnSpc>
                  <a:spcPts val="5039"/>
                </a:lnSpc>
                <a:buFont typeface="Arial"/>
                <a:buChar char="•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Captures inherent randomness of traffic.</a:t>
              </a:r>
            </a:p>
            <a:p>
              <a:pPr algn="l" marL="760088" indent="-380044" lvl="1">
                <a:lnSpc>
                  <a:spcPts val="5039"/>
                </a:lnSpc>
                <a:buFont typeface="Arial"/>
                <a:buChar char="•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Aligns with the Poisson process theory from the base paper.</a:t>
              </a:r>
            </a:p>
            <a:p>
              <a:pPr algn="l" marL="760088" indent="-380044" lvl="1">
                <a:lnSpc>
                  <a:spcPts val="5039"/>
                </a:lnSpc>
                <a:buFont typeface="Arial"/>
                <a:buChar char="•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Enables comparison between deterministic and randomized policies.</a:t>
              </a:r>
            </a:p>
            <a:p>
              <a:pPr algn="l" marL="906772" indent="-453386" lvl="1">
                <a:lnSpc>
                  <a:spcPts val="5039"/>
                </a:lnSpc>
                <a:buFont typeface="Arial"/>
                <a:buChar char="•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Matches the Monte Carlo simulation framework.</a:t>
              </a:r>
            </a:p>
            <a:p>
              <a:pPr algn="l" marL="760088" indent="-380044" lvl="1">
                <a:lnSpc>
                  <a:spcPts val="503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95525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43958" y="159865"/>
            <a:ext cx="15773400" cy="1988344"/>
            <a:chOff x="0" y="0"/>
            <a:chExt cx="21031200" cy="26511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21031200" cy="260350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587"/>
                </a:lnSpc>
              </a:pPr>
              <a:r>
                <a:rPr lang="en-US" sz="6099" b="true">
                  <a:solidFill>
                    <a:srgbClr val="C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Mathematical Model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102246" cy="773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|  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90964" y="2135870"/>
            <a:ext cx="16906071" cy="5728529"/>
            <a:chOff x="0" y="0"/>
            <a:chExt cx="16633724" cy="56362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633720" cy="5636243"/>
            </a:xfrm>
            <a:custGeom>
              <a:avLst/>
              <a:gdLst/>
              <a:ahLst/>
              <a:cxnLst/>
              <a:rect r="r" b="b" t="t" l="l"/>
              <a:pathLst>
                <a:path h="5636243" w="16633720">
                  <a:moveTo>
                    <a:pt x="0" y="0"/>
                  </a:moveTo>
                  <a:lnTo>
                    <a:pt x="16633720" y="0"/>
                  </a:lnTo>
                  <a:lnTo>
                    <a:pt x="16633720" y="5636243"/>
                  </a:lnTo>
                  <a:lnTo>
                    <a:pt x="0" y="563624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2513" r="-31382" b="-858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6633724" cy="5655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06772" indent="-453386" lvl="1">
                <a:lnSpc>
                  <a:spcPts val="5039"/>
                </a:lnSpc>
                <a:buFont typeface="Arial"/>
                <a:buChar char="•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Intersection modeled as a discrete-time stochastic queueing system</a:t>
              </a:r>
            </a:p>
            <a:p>
              <a:pPr algn="l" marL="906772" indent="-453386" lvl="1">
                <a:lnSpc>
                  <a:spcPts val="5039"/>
                </a:lnSpc>
                <a:buFont typeface="Arial"/>
                <a:buChar char="•"/>
              </a:pPr>
              <a:r>
                <a:rPr lang="en-US" b="true" sz="41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Vehicle arrivals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  Ai(t)∼Poisson(λi)</a:t>
              </a:r>
            </a:p>
            <a:p>
              <a:pPr algn="l" marL="906772" indent="-453386" lvl="1">
                <a:lnSpc>
                  <a:spcPts val="5039"/>
                </a:lnSpc>
                <a:buFont typeface="Arial"/>
                <a:buChar char="•"/>
              </a:pPr>
              <a:r>
                <a:rPr lang="en-US" b="true" sz="41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Vehicle speed/service variation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V∼N(μ,σ2)</a:t>
              </a:r>
            </a:p>
            <a:p>
              <a:pPr algn="l" marL="906772" indent="-453386" lvl="1">
                <a:lnSpc>
                  <a:spcPts val="5039"/>
                </a:lnSpc>
                <a:buFont typeface="Arial"/>
                <a:buChar char="•"/>
              </a:pPr>
              <a:r>
                <a:rPr lang="en-US" b="true" sz="41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Queue update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 Qi(t+1)=Qi(t)+Ai(t)−Di(t)</a:t>
              </a:r>
            </a:p>
            <a:p>
              <a:pPr algn="l">
                <a:lnSpc>
                  <a:spcPts val="383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775" y="2708865"/>
            <a:ext cx="17459225" cy="6382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1"/>
              </a:lnSpc>
              <a:spcBef>
                <a:spcPct val="0"/>
              </a:spcBef>
            </a:pPr>
            <a:r>
              <a:rPr lang="en-US" b="true" sz="398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Service</a:t>
            </a:r>
            <a:r>
              <a:rPr lang="en-US" sz="39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Di(t) = min⁡(Qi(t),Ci(t))when phase serves lane i</a:t>
            </a:r>
          </a:p>
          <a:p>
            <a:pPr algn="l">
              <a:lnSpc>
                <a:spcPts val="4301"/>
              </a:lnSpc>
              <a:spcBef>
                <a:spcPct val="0"/>
              </a:spcBef>
            </a:pPr>
            <a:r>
              <a:rPr lang="en-US" b="true" sz="398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Decision variable</a:t>
            </a:r>
            <a:r>
              <a:rPr lang="en-US" sz="39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X(t)∈{NS,EW} where X(t) denotes the signal phase selected at time t</a:t>
            </a:r>
          </a:p>
          <a:p>
            <a:pPr algn="l">
              <a:lnSpc>
                <a:spcPts val="4301"/>
              </a:lnSpc>
              <a:spcBef>
                <a:spcPct val="0"/>
              </a:spcBef>
            </a:pPr>
            <a:r>
              <a:rPr lang="en-US" b="true" sz="398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Deterministic model</a:t>
            </a:r>
            <a:r>
              <a:rPr lang="en-US" sz="39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fixed-time phase switching</a:t>
            </a:r>
          </a:p>
          <a:p>
            <a:pPr algn="l">
              <a:lnSpc>
                <a:spcPts val="4301"/>
              </a:lnSpc>
              <a:spcBef>
                <a:spcPct val="0"/>
              </a:spcBef>
            </a:pPr>
            <a:r>
              <a:rPr lang="en-US" b="true" sz="398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Randomized model:</a:t>
            </a:r>
            <a:r>
              <a:rPr lang="en-US" sz="39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P(NS)=W_NS/(W_NS+W_EW) , P(EW)=W_EW/(W_NS+W_EW)</a:t>
            </a:r>
          </a:p>
          <a:p>
            <a:pPr algn="l">
              <a:lnSpc>
                <a:spcPts val="4301"/>
              </a:lnSpc>
              <a:spcBef>
                <a:spcPct val="0"/>
              </a:spcBef>
            </a:pPr>
            <a:r>
              <a:rPr lang="en-US" b="true" sz="398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</a:t>
            </a:r>
            <a:r>
              <a:rPr lang="en-US" sz="39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min⁡∑t∑iQi(t)</a:t>
            </a:r>
          </a:p>
          <a:p>
            <a:pPr algn="l">
              <a:lnSpc>
                <a:spcPts val="4301"/>
              </a:lnSpc>
              <a:spcBef>
                <a:spcPct val="0"/>
              </a:spcBef>
            </a:pPr>
            <a:r>
              <a:rPr lang="en-US" sz="39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i.e. reduce delay, queues, and improve throughput</a:t>
            </a:r>
          </a:p>
          <a:p>
            <a:pPr algn="l">
              <a:lnSpc>
                <a:spcPts val="4301"/>
              </a:lnSpc>
              <a:spcBef>
                <a:spcPct val="0"/>
              </a:spcBef>
            </a:pPr>
          </a:p>
          <a:p>
            <a:pPr algn="l">
              <a:lnSpc>
                <a:spcPts val="3869"/>
              </a:lnSpc>
              <a:spcBef>
                <a:spcPct val="0"/>
              </a:spcBef>
            </a:pPr>
            <a:r>
              <a:rPr lang="en-US" sz="3582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“Each distribution is chosen to reflect real-world uncertainty in arrivals and driver behavior. These constraints ensure the model remains physically realistic and mathematically stable.”</a:t>
            </a:r>
          </a:p>
          <a:p>
            <a:pPr algn="l">
              <a:lnSpc>
                <a:spcPts val="3869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843958" y="159865"/>
            <a:ext cx="15773400" cy="1988344"/>
            <a:chOff x="0" y="0"/>
            <a:chExt cx="21031200" cy="26511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21031200" cy="260350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587"/>
                </a:lnSpc>
              </a:pPr>
              <a:r>
                <a:rPr lang="en-US" sz="6099" b="true">
                  <a:solidFill>
                    <a:srgbClr val="C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Mathematical Model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7745" y="9058418"/>
            <a:ext cx="2048723" cy="898484"/>
            <a:chOff x="0" y="0"/>
            <a:chExt cx="2731630" cy="11979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800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85949" b="-1846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00749" b="-18488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43939" y="357895"/>
            <a:ext cx="15773400" cy="1988550"/>
            <a:chOff x="0" y="0"/>
            <a:chExt cx="21031200" cy="2651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2651396"/>
            </a:xfrm>
            <a:custGeom>
              <a:avLst/>
              <a:gdLst/>
              <a:ahLst/>
              <a:cxnLst/>
              <a:rect r="r" b="b" t="t" l="l"/>
              <a:pathLst>
                <a:path h="265139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396"/>
                  </a:lnTo>
                  <a:lnTo>
                    <a:pt x="0" y="26513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557" r="0" b="-10455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38100"/>
              <a:ext cx="21031200" cy="26133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451"/>
                </a:lnSpc>
              </a:pPr>
              <a:r>
                <a:rPr lang="en-US" sz="6899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Deterministic Approach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11451" y="2841946"/>
            <a:ext cx="9696574" cy="629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3151" indent="-371575" lvl="1">
              <a:lnSpc>
                <a:spcPts val="3594"/>
              </a:lnSpc>
              <a:buFont typeface="Arial"/>
              <a:buChar char="•"/>
            </a:pPr>
            <a:r>
              <a:rPr lang="en-US" b="true" sz="332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Fixed phase order + fixed green times</a:t>
            </a:r>
          </a:p>
          <a:p>
            <a:pPr algn="l" marL="743151" indent="-371575" lvl="1">
              <a:lnSpc>
                <a:spcPts val="3594"/>
              </a:lnSpc>
              <a:buFont typeface="Arial"/>
              <a:buChar char="•"/>
            </a:pPr>
            <a:r>
              <a:rPr lang="en-US" b="true" sz="332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Decisions depend only on cycle position, not traffic state</a:t>
            </a:r>
          </a:p>
          <a:p>
            <a:pPr algn="l" marL="743151" indent="-371575" lvl="1">
              <a:lnSpc>
                <a:spcPts val="3594"/>
              </a:lnSpc>
              <a:buFont typeface="Arial"/>
              <a:buChar char="•"/>
            </a:pPr>
            <a:r>
              <a:rPr lang="en-US" b="true" sz="332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Steps: choose phase → serve active lanes → update queues → switch phase</a:t>
            </a:r>
          </a:p>
          <a:p>
            <a:pPr algn="l" marL="743151" indent="-371575" lvl="1">
              <a:lnSpc>
                <a:spcPts val="3594"/>
              </a:lnSpc>
              <a:buFont typeface="Arial"/>
              <a:buChar char="•"/>
            </a:pPr>
            <a:r>
              <a:rPr lang="en-US" b="true" sz="332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Strength: simple, stable baseline</a:t>
            </a:r>
          </a:p>
          <a:p>
            <a:pPr algn="l" marL="743151" indent="-371575" lvl="1">
              <a:lnSpc>
                <a:spcPts val="3594"/>
              </a:lnSpc>
              <a:buFont typeface="Arial"/>
              <a:buChar char="•"/>
            </a:pPr>
            <a:r>
              <a:rPr lang="en-US" b="true" sz="332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Limitation: not adaptive to uneven traffic</a:t>
            </a:r>
          </a:p>
          <a:p>
            <a:pPr algn="l" marL="743151" indent="-371575" lvl="1">
              <a:lnSpc>
                <a:spcPts val="3594"/>
              </a:lnSpc>
              <a:buFont typeface="Arial"/>
              <a:buChar char="•"/>
            </a:pPr>
            <a:r>
              <a:rPr lang="en-US" b="true" sz="332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Motivation for Milestone 4: replace rigid rule with probabilistic phase selection</a:t>
            </a:r>
          </a:p>
          <a:p>
            <a:pPr algn="l">
              <a:lnSpc>
                <a:spcPts val="3594"/>
              </a:lnSpc>
            </a:pPr>
          </a:p>
          <a:p>
            <a:pPr algn="l">
              <a:lnSpc>
                <a:spcPts val="3594"/>
              </a:lnSpc>
            </a:pPr>
            <a:r>
              <a:rPr lang="en-US" sz="3328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“This approach fails because it ignores real-time traffic conditions and treats all scenarios equally.”</a:t>
            </a:r>
          </a:p>
          <a:p>
            <a:pPr algn="l">
              <a:lnSpc>
                <a:spcPts val="3594"/>
              </a:lnSpc>
            </a:pPr>
          </a:p>
          <a:p>
            <a:pPr algn="l" marL="743292" indent="-371646" lvl="1">
              <a:lnSpc>
                <a:spcPts val="3594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6204016" y="9427016"/>
            <a:ext cx="826646" cy="566100"/>
            <a:chOff x="0" y="0"/>
            <a:chExt cx="1102195" cy="754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200" cy="754801"/>
            </a:xfrm>
            <a:custGeom>
              <a:avLst/>
              <a:gdLst/>
              <a:ahLst/>
              <a:cxnLst/>
              <a:rect r="r" b="b" t="t" l="l"/>
              <a:pathLst>
                <a:path h="754801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1"/>
                  </a:lnTo>
                  <a:lnTo>
                    <a:pt x="0" y="75480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102195" cy="77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Arimo"/>
                  <a:ea typeface="Arimo"/>
                  <a:cs typeface="Arimo"/>
                  <a:sym typeface="Arimo"/>
                </a:rPr>
                <a:t>  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13356" y="3440984"/>
            <a:ext cx="6417344" cy="3405031"/>
            <a:chOff x="0" y="0"/>
            <a:chExt cx="12524765" cy="66456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24740" cy="6645656"/>
            </a:xfrm>
            <a:custGeom>
              <a:avLst/>
              <a:gdLst/>
              <a:ahLst/>
              <a:cxnLst/>
              <a:rect r="r" b="b" t="t" l="l"/>
              <a:pathLst>
                <a:path h="6645656" w="12524740">
                  <a:moveTo>
                    <a:pt x="0" y="0"/>
                  </a:moveTo>
                  <a:lnTo>
                    <a:pt x="12524740" y="0"/>
                  </a:lnTo>
                  <a:lnTo>
                    <a:pt x="12524740" y="6645656"/>
                  </a:lnTo>
                  <a:lnTo>
                    <a:pt x="0" y="664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232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6976" y="-250889"/>
            <a:ext cx="15773400" cy="1988550"/>
            <a:chOff x="0" y="0"/>
            <a:chExt cx="21031200" cy="2651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2651396"/>
            </a:xfrm>
            <a:custGeom>
              <a:avLst/>
              <a:gdLst/>
              <a:ahLst/>
              <a:cxnLst/>
              <a:rect r="r" b="b" t="t" l="l"/>
              <a:pathLst>
                <a:path h="265139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396"/>
                  </a:lnTo>
                  <a:lnTo>
                    <a:pt x="0" y="26513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557" r="0" b="-10455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26228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b="true" sz="480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Randomized Approach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46" cy="566100"/>
            <a:chOff x="0" y="0"/>
            <a:chExt cx="1102195" cy="754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00" cy="754801"/>
            </a:xfrm>
            <a:custGeom>
              <a:avLst/>
              <a:gdLst/>
              <a:ahLst/>
              <a:cxnLst/>
              <a:rect r="r" b="b" t="t" l="l"/>
              <a:pathLst>
                <a:path h="754801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1"/>
                  </a:lnTo>
                  <a:lnTo>
                    <a:pt x="0" y="75480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102195" cy="77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Arimo"/>
                  <a:ea typeface="Arimo"/>
                  <a:cs typeface="Arimo"/>
                  <a:sym typeface="Arimo"/>
                </a:rPr>
                <a:t>  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6976" y="1860775"/>
            <a:ext cx="13646928" cy="5933001"/>
            <a:chOff x="0" y="0"/>
            <a:chExt cx="18195904" cy="79106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195903" cy="7910656"/>
            </a:xfrm>
            <a:custGeom>
              <a:avLst/>
              <a:gdLst/>
              <a:ahLst/>
              <a:cxnLst/>
              <a:rect r="r" b="b" t="t" l="l"/>
              <a:pathLst>
                <a:path h="7910656" w="18195903">
                  <a:moveTo>
                    <a:pt x="0" y="0"/>
                  </a:moveTo>
                  <a:lnTo>
                    <a:pt x="18195903" y="0"/>
                  </a:lnTo>
                  <a:lnTo>
                    <a:pt x="18195903" y="7910656"/>
                  </a:lnTo>
                  <a:lnTo>
                    <a:pt x="0" y="79106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209" r="-15582" b="2660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8195904" cy="7929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33409" indent="-316704" lvl="1">
                <a:lnSpc>
                  <a:spcPts val="4199"/>
                </a:lnSpc>
                <a:buFont typeface="Arial"/>
                <a:buChar char="•"/>
              </a:pPr>
              <a:r>
                <a:rPr lang="en-US" b="true" sz="34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Uses probability-based random selection of signal phases for decision-making</a:t>
              </a:r>
            </a:p>
            <a:p>
              <a:pPr algn="l" marL="633409" indent="-316704" lvl="1">
                <a:lnSpc>
                  <a:spcPts val="4199"/>
                </a:lnSpc>
                <a:buFont typeface="Arial"/>
                <a:buChar char="•"/>
              </a:pPr>
              <a:r>
                <a:rPr lang="en-US" b="true" sz="34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Longer queues increased likelihood of getting a green phase </a:t>
              </a:r>
            </a:p>
            <a:p>
              <a:pPr algn="l" marL="633409" indent="-316704" lvl="1">
                <a:lnSpc>
                  <a:spcPts val="4199"/>
                </a:lnSpc>
                <a:buFont typeface="Arial"/>
                <a:buChar char="•"/>
              </a:pPr>
              <a:r>
                <a:rPr lang="en-US" b="true" sz="34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More randomly flexible than fixed time control.</a:t>
              </a:r>
            </a:p>
            <a:p>
              <a:pPr algn="l">
                <a:lnSpc>
                  <a:spcPts val="4199"/>
                </a:lnSpc>
              </a:pPr>
            </a:p>
            <a:p>
              <a:pPr algn="l">
                <a:lnSpc>
                  <a:spcPts val="4199"/>
                </a:lnSpc>
              </a:pPr>
              <a:r>
                <a:rPr lang="en-US" b="true" sz="34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Advantages: </a:t>
              </a:r>
            </a:p>
            <a:p>
              <a:pPr algn="l" marL="755646" indent="-377823" lvl="1">
                <a:lnSpc>
                  <a:spcPts val="4199"/>
                </a:lnSpc>
                <a:buFont typeface="Arial"/>
                <a:buChar char="•"/>
              </a:pPr>
              <a:r>
                <a:rPr lang="en-US" b="true" sz="34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Adapts to changing traffic conditions. </a:t>
              </a:r>
            </a:p>
            <a:p>
              <a:pPr algn="l" marL="755646" indent="-377823" lvl="1">
                <a:lnSpc>
                  <a:spcPts val="4199"/>
                </a:lnSpc>
                <a:buFont typeface="Arial"/>
                <a:buChar char="•"/>
              </a:pPr>
              <a:r>
                <a:rPr lang="en-US" b="true" sz="34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Reduces time waiting at an intersection. </a:t>
              </a:r>
            </a:p>
            <a:p>
              <a:pPr algn="l" marL="755646" indent="-377823" lvl="1">
                <a:lnSpc>
                  <a:spcPts val="4199"/>
                </a:lnSpc>
                <a:buFont typeface="Arial"/>
                <a:buChar char="•"/>
              </a:pPr>
              <a:r>
                <a:rPr lang="en-US" b="true" sz="34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Improves total flow of traffic.</a:t>
              </a:r>
            </a:p>
            <a:p>
              <a:pPr algn="l">
                <a:lnSpc>
                  <a:spcPts val="4199"/>
                </a:lnSpc>
              </a:pPr>
            </a:p>
            <a:p>
              <a:pPr algn="l">
                <a:lnSpc>
                  <a:spcPts val="41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75733" y="6685598"/>
            <a:ext cx="9154929" cy="2741418"/>
            <a:chOff x="0" y="0"/>
            <a:chExt cx="13455040" cy="40290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55014" cy="4029075"/>
            </a:xfrm>
            <a:custGeom>
              <a:avLst/>
              <a:gdLst/>
              <a:ahLst/>
              <a:cxnLst/>
              <a:rect r="r" b="b" t="t" l="l"/>
              <a:pathLst>
                <a:path h="4029075" w="13455014">
                  <a:moveTo>
                    <a:pt x="0" y="0"/>
                  </a:moveTo>
                  <a:lnTo>
                    <a:pt x="13455014" y="0"/>
                  </a:lnTo>
                  <a:lnTo>
                    <a:pt x="13455014" y="4029075"/>
                  </a:lnTo>
                  <a:lnTo>
                    <a:pt x="0" y="4029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56" t="-53772" r="-19272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43939" y="138799"/>
            <a:ext cx="15773400" cy="2041907"/>
            <a:chOff x="0" y="0"/>
            <a:chExt cx="21031200" cy="27225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2722538"/>
            </a:xfrm>
            <a:custGeom>
              <a:avLst/>
              <a:gdLst/>
              <a:ahLst/>
              <a:cxnLst/>
              <a:rect r="r" b="b" t="t" l="l"/>
              <a:pathLst>
                <a:path h="2722538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722538"/>
                  </a:lnTo>
                  <a:lnTo>
                    <a:pt x="0" y="27225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1825" r="0" b="-992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21031200" cy="267491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46" cy="566100"/>
            <a:chOff x="0" y="0"/>
            <a:chExt cx="1102195" cy="754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00" cy="754801"/>
            </a:xfrm>
            <a:custGeom>
              <a:avLst/>
              <a:gdLst/>
              <a:ahLst/>
              <a:cxnLst/>
              <a:rect r="r" b="b" t="t" l="l"/>
              <a:pathLst>
                <a:path h="754801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1"/>
                  </a:lnTo>
                  <a:lnTo>
                    <a:pt x="0" y="75480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102195" cy="77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Arimo"/>
                  <a:ea typeface="Arimo"/>
                  <a:cs typeface="Arimo"/>
                  <a:sym typeface="Arimo"/>
                </a:rPr>
                <a:t>  k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38220" y="834752"/>
            <a:ext cx="16034671" cy="8223665"/>
            <a:chOff x="0" y="0"/>
            <a:chExt cx="21379561" cy="1096488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79565" cy="10964888"/>
            </a:xfrm>
            <a:custGeom>
              <a:avLst/>
              <a:gdLst/>
              <a:ahLst/>
              <a:cxnLst/>
              <a:rect r="r" b="b" t="t" l="l"/>
              <a:pathLst>
                <a:path h="10964888" w="21379565">
                  <a:moveTo>
                    <a:pt x="0" y="0"/>
                  </a:moveTo>
                  <a:lnTo>
                    <a:pt x="21379565" y="0"/>
                  </a:lnTo>
                  <a:lnTo>
                    <a:pt x="21379565" y="10964888"/>
                  </a:lnTo>
                  <a:lnTo>
                    <a:pt x="0" y="109648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989" t="0" r="-10989" b="731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1379561" cy="109934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39"/>
                </a:lnSpc>
              </a:pPr>
              <a:r>
                <a:rPr lang="en-US" sz="4699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Why Randomization?</a:t>
              </a:r>
            </a:p>
            <a:p>
              <a:pPr algn="l">
                <a:lnSpc>
                  <a:spcPts val="4799"/>
                </a:lnSpc>
              </a:pPr>
            </a:p>
            <a:p>
              <a:pPr algn="l" marL="850390" indent="-425195" lvl="1">
                <a:lnSpc>
                  <a:spcPts val="4799"/>
                </a:lnSpc>
                <a:buFont typeface="Arial"/>
                <a:buChar char="•"/>
              </a:pPr>
              <a:r>
                <a:rPr lang="en-US" sz="3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Traffic arrivals are </a:t>
              </a:r>
              <a:r>
                <a:rPr lang="en-US" b="true" sz="39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random</a:t>
              </a:r>
              <a:r>
                <a:rPr lang="en-US" sz="3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– deterministic rules cannot adapt.</a:t>
              </a:r>
            </a:p>
            <a:p>
              <a:pPr algn="l">
                <a:lnSpc>
                  <a:spcPts val="4799"/>
                </a:lnSpc>
              </a:pPr>
            </a:p>
            <a:p>
              <a:pPr algn="l" marL="850390" indent="-425195" lvl="1">
                <a:lnSpc>
                  <a:spcPts val="4799"/>
                </a:lnSpc>
                <a:buFont typeface="Arial"/>
                <a:buChar char="•"/>
              </a:pPr>
              <a:r>
                <a:rPr lang="en-US" sz="3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Randomization </a:t>
              </a:r>
              <a:r>
                <a:rPr lang="en-US" b="true" sz="39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prevents starvation</a:t>
              </a:r>
              <a:r>
                <a:rPr lang="en-US" sz="3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– every lane gets a chance.</a:t>
              </a:r>
            </a:p>
            <a:p>
              <a:pPr algn="l">
                <a:lnSpc>
                  <a:spcPts val="4799"/>
                </a:lnSpc>
              </a:pPr>
            </a:p>
            <a:p>
              <a:pPr algn="l" marL="850390" indent="-425195" lvl="1">
                <a:lnSpc>
                  <a:spcPts val="4799"/>
                </a:lnSpc>
                <a:buFont typeface="Arial"/>
                <a:buChar char="•"/>
              </a:pPr>
              <a:r>
                <a:rPr lang="en-US" sz="3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Weighted randomization </a:t>
              </a:r>
              <a:r>
                <a:rPr lang="en-US" b="true" sz="39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prioritizes congestion</a:t>
              </a:r>
              <a:r>
                <a:rPr lang="en-US" sz="3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while keeping flexibility.</a:t>
              </a:r>
            </a:p>
            <a:p>
              <a:pPr algn="l">
                <a:lnSpc>
                  <a:spcPts val="4799"/>
                </a:lnSpc>
              </a:pPr>
            </a:p>
            <a:p>
              <a:pPr algn="l" marL="850390" indent="-425195" lvl="1">
                <a:lnSpc>
                  <a:spcPts val="4799"/>
                </a:lnSpc>
                <a:buFont typeface="Arial"/>
                <a:buChar char="•"/>
              </a:pPr>
              <a:r>
                <a:rPr lang="en-US" sz="3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Mimics real‑world driver behavior and unpredictability.</a:t>
              </a:r>
            </a:p>
            <a:p>
              <a:pPr algn="l" marL="850898" indent="-425449" lvl="1">
                <a:lnSpc>
                  <a:spcPts val="4799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43939" y="491535"/>
            <a:ext cx="15773400" cy="3252121"/>
            <a:chOff x="0" y="0"/>
            <a:chExt cx="21031200" cy="43361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4336154"/>
            </a:xfrm>
            <a:custGeom>
              <a:avLst/>
              <a:gdLst/>
              <a:ahLst/>
              <a:cxnLst/>
              <a:rect r="r" b="b" t="t" l="l"/>
              <a:pathLst>
                <a:path h="433615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4336154"/>
                  </a:lnTo>
                  <a:lnTo>
                    <a:pt x="0" y="43361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933" r="0" b="-2507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430758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24"/>
                </a:lnSpc>
              </a:pPr>
              <a:r>
                <a:rPr lang="en-US" sz="5300" b="true">
                  <a:solidFill>
                    <a:srgbClr val="C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The Weighted Randomization Algorithm</a:t>
              </a:r>
            </a:p>
            <a:p>
              <a:pPr algn="l">
                <a:lnSpc>
                  <a:spcPts val="5724"/>
                </a:lnSpc>
              </a:pPr>
            </a:p>
            <a:p>
              <a:pPr algn="l">
                <a:lnSpc>
                  <a:spcPts val="5724"/>
                </a:lnSpc>
              </a:pPr>
            </a:p>
            <a:p>
              <a:pPr algn="l">
                <a:lnSpc>
                  <a:spcPts val="572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46" cy="566100"/>
            <a:chOff x="0" y="0"/>
            <a:chExt cx="1102195" cy="754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00" cy="754801"/>
            </a:xfrm>
            <a:custGeom>
              <a:avLst/>
              <a:gdLst/>
              <a:ahLst/>
              <a:cxnLst/>
              <a:rect r="r" b="b" t="t" l="l"/>
              <a:pathLst>
                <a:path h="754801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1"/>
                  </a:lnTo>
                  <a:lnTo>
                    <a:pt x="0" y="75480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102195" cy="77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Arimo"/>
                  <a:ea typeface="Arimo"/>
                  <a:cs typeface="Arimo"/>
                  <a:sym typeface="Arimo"/>
                </a:rPr>
                <a:t>  k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38220" y="491535"/>
            <a:ext cx="20052179" cy="10005900"/>
            <a:chOff x="0" y="0"/>
            <a:chExt cx="20366576" cy="101627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366580" cy="10162783"/>
            </a:xfrm>
            <a:custGeom>
              <a:avLst/>
              <a:gdLst/>
              <a:ahLst/>
              <a:cxnLst/>
              <a:rect r="r" b="b" t="t" l="l"/>
              <a:pathLst>
                <a:path h="10162783" w="20366580">
                  <a:moveTo>
                    <a:pt x="0" y="0"/>
                  </a:moveTo>
                  <a:lnTo>
                    <a:pt x="20366580" y="0"/>
                  </a:lnTo>
                  <a:lnTo>
                    <a:pt x="20366580" y="10162783"/>
                  </a:lnTo>
                  <a:lnTo>
                    <a:pt x="0" y="101627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535" t="0" r="-16509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0366576" cy="101818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At each decision point:</a:t>
              </a:r>
            </a:p>
            <a:p>
              <a:pPr algn="l" marL="906777" indent="-453388" lvl="1">
                <a:lnSpc>
                  <a:spcPts val="5039"/>
                </a:lnSpc>
                <a:buAutoNum type="arabicPeriod" startAt="1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Measure current queue lengths QNS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Q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NS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​ and QEW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Q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E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W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​.</a:t>
              </a:r>
            </a:p>
            <a:p>
              <a:pPr algn="l" marL="906777" indent="-453388" lvl="1">
                <a:lnSpc>
                  <a:spcPts val="5039"/>
                </a:lnSpc>
                <a:buAutoNum type="arabicPeriod" startAt="1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Compute total queue Qtotal=QNS+QEW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Q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tota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l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​=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Q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NS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​+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Q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E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W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​.</a:t>
              </a:r>
            </a:p>
            <a:p>
              <a:pPr algn="l" marL="906777" indent="-453388" lvl="1">
                <a:lnSpc>
                  <a:spcPts val="5039"/>
                </a:lnSpc>
                <a:buAutoNum type="arabicPeriod" startAt="1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Qtotal=0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Q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tota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l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​=0, set p=0.5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p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=0.5 (equal chance).</a:t>
              </a:r>
            </a:p>
            <a:p>
              <a:pPr algn="l" marL="906777" indent="-453388" lvl="1">
                <a:lnSpc>
                  <a:spcPts val="5039"/>
                </a:lnSpc>
                <a:buAutoNum type="arabicPeriod" startAt="1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Else, set p=QNS/Qtotal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p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=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Q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NS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​/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Q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tota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l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​.</a:t>
              </a:r>
            </a:p>
            <a:p>
              <a:pPr algn="l" marL="906777" indent="-453388" lvl="1">
                <a:lnSpc>
                  <a:spcPts val="5039"/>
                </a:lnSpc>
                <a:buAutoNum type="arabicPeriod" startAt="1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Generate a random number r∼Uniform(0,1)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r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∼Uniform(0,1).</a:t>
              </a:r>
            </a:p>
            <a:p>
              <a:pPr algn="l" marL="906777" indent="-453388" lvl="1">
                <a:lnSpc>
                  <a:spcPts val="5039"/>
                </a:lnSpc>
                <a:buAutoNum type="arabicPeriod" startAt="1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r&lt;p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r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&lt;</a:t>
              </a:r>
              <a:r>
                <a:rPr lang="en-US" sz="4199" i="true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p</a:t>
              </a: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give green to NS; else to EW.</a:t>
              </a:r>
            </a:p>
            <a:p>
              <a:pPr algn="l" marL="906777" indent="-453388" lvl="1">
                <a:lnSpc>
                  <a:spcPts val="5039"/>
                </a:lnSpc>
                <a:buAutoNum type="arabicPeriod" startAt="1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Serve up to service_rate vehicles from the chosen lane.</a:t>
              </a:r>
            </a:p>
            <a:p>
              <a:pPr algn="l">
                <a:lnSpc>
                  <a:spcPts val="4320"/>
                </a:lnSpc>
              </a:pPr>
            </a:p>
            <a:p>
              <a:pPr algn="l">
                <a:lnSpc>
                  <a:spcPts val="4320"/>
                </a:lnSpc>
              </a:pPr>
            </a:p>
            <a:p>
              <a:pPr algn="l">
                <a:lnSpc>
                  <a:spcPts val="4320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43939" y="138799"/>
            <a:ext cx="15773400" cy="3976021"/>
            <a:chOff x="0" y="0"/>
            <a:chExt cx="21031200" cy="53013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5301352"/>
            </a:xfrm>
            <a:custGeom>
              <a:avLst/>
              <a:gdLst/>
              <a:ahLst/>
              <a:cxnLst/>
              <a:rect r="r" b="b" t="t" l="l"/>
              <a:pathLst>
                <a:path h="530135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301352"/>
                  </a:lnTo>
                  <a:lnTo>
                    <a:pt x="0" y="53013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292" r="0" b="-230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527278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24"/>
                </a:lnSpc>
              </a:pPr>
              <a:r>
                <a:rPr lang="en-US" sz="5300" b="true">
                  <a:solidFill>
                    <a:srgbClr val="C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Connection to Base Paper</a:t>
              </a:r>
            </a:p>
            <a:p>
              <a:pPr algn="l">
                <a:lnSpc>
                  <a:spcPts val="5724"/>
                </a:lnSpc>
              </a:pPr>
            </a:p>
            <a:p>
              <a:pPr algn="l">
                <a:lnSpc>
                  <a:spcPts val="5724"/>
                </a:lnSpc>
              </a:pPr>
            </a:p>
            <a:p>
              <a:pPr algn="l">
                <a:lnSpc>
                  <a:spcPts val="5724"/>
                </a:lnSpc>
              </a:pPr>
            </a:p>
            <a:p>
              <a:pPr algn="l">
                <a:lnSpc>
                  <a:spcPts val="572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46" cy="566100"/>
            <a:chOff x="0" y="0"/>
            <a:chExt cx="1102195" cy="754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00" cy="754801"/>
            </a:xfrm>
            <a:custGeom>
              <a:avLst/>
              <a:gdLst/>
              <a:ahLst/>
              <a:cxnLst/>
              <a:rect r="r" b="b" t="t" l="l"/>
              <a:pathLst>
                <a:path h="754801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1"/>
                  </a:lnTo>
                  <a:lnTo>
                    <a:pt x="0" y="75480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102195" cy="77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Arimo"/>
                  <a:ea typeface="Arimo"/>
                  <a:cs typeface="Arimo"/>
                  <a:sym typeface="Arimo"/>
                </a:rPr>
                <a:t>  k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-48999"/>
            <a:ext cx="20052179" cy="10005900"/>
            <a:chOff x="0" y="0"/>
            <a:chExt cx="20366576" cy="101627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366580" cy="10162783"/>
            </a:xfrm>
            <a:custGeom>
              <a:avLst/>
              <a:gdLst/>
              <a:ahLst/>
              <a:cxnLst/>
              <a:rect r="r" b="b" t="t" l="l"/>
              <a:pathLst>
                <a:path h="10162783" w="20366580">
                  <a:moveTo>
                    <a:pt x="0" y="0"/>
                  </a:moveTo>
                  <a:lnTo>
                    <a:pt x="20366580" y="0"/>
                  </a:lnTo>
                  <a:lnTo>
                    <a:pt x="20366580" y="10162783"/>
                  </a:lnTo>
                  <a:lnTo>
                    <a:pt x="0" y="101627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535" t="0" r="-16509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0366576" cy="101913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59"/>
                </a:lnSpc>
              </a:pPr>
            </a:p>
            <a:p>
              <a:pPr algn="l" marL="820419" indent="-410209" lvl="1">
                <a:lnSpc>
                  <a:spcPts val="4559"/>
                </a:lnSpc>
                <a:buFont typeface="Arial"/>
                <a:buChar char="•"/>
              </a:pPr>
              <a:r>
                <a:rPr lang="en-US" sz="3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</a:t>
              </a:r>
              <a:r>
                <a:rPr lang="en-US" b="true" sz="37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Colouring Theorem</a:t>
              </a:r>
              <a:r>
                <a:rPr lang="en-US" sz="3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justifies splitting traffic into independent streams.</a:t>
              </a:r>
            </a:p>
            <a:p>
              <a:pPr algn="l">
                <a:lnSpc>
                  <a:spcPts val="4559"/>
                </a:lnSpc>
              </a:pPr>
            </a:p>
            <a:p>
              <a:pPr algn="l" marL="820419" indent="-410209" lvl="1">
                <a:lnSpc>
                  <a:spcPts val="4559"/>
                </a:lnSpc>
                <a:buFont typeface="Arial"/>
                <a:buChar char="•"/>
              </a:pPr>
              <a:r>
                <a:rPr lang="en-US" sz="3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</a:t>
              </a:r>
              <a:r>
                <a:rPr lang="en-US" b="true" sz="37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Marking Theorem</a:t>
              </a:r>
              <a:r>
                <a:rPr lang="en-US" sz="3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allows attaching speed and destination marks.</a:t>
              </a:r>
            </a:p>
            <a:p>
              <a:pPr algn="l">
                <a:lnSpc>
                  <a:spcPts val="4559"/>
                </a:lnSpc>
              </a:pPr>
            </a:p>
            <a:p>
              <a:pPr algn="l" marL="820419" indent="-410209" lvl="1">
                <a:lnSpc>
                  <a:spcPts val="4559"/>
                </a:lnSpc>
                <a:buFont typeface="Arial"/>
                <a:buChar char="•"/>
              </a:pPr>
              <a:r>
                <a:rPr lang="en-US" sz="3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</a:t>
              </a:r>
              <a:r>
                <a:rPr lang="en-US" b="true" sz="37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Superposition Theorem</a:t>
              </a:r>
              <a:r>
                <a:rPr lang="en-US" sz="3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explains how total flow remains Poisson even after merging.</a:t>
              </a:r>
            </a:p>
            <a:p>
              <a:pPr algn="l">
                <a:lnSpc>
                  <a:spcPts val="4919"/>
                </a:lnSpc>
              </a:pPr>
            </a:p>
            <a:p>
              <a:pPr algn="l">
                <a:lnSpc>
                  <a:spcPts val="4320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7384" y="468589"/>
            <a:ext cx="15773400" cy="1120223"/>
            <a:chOff x="0" y="0"/>
            <a:chExt cx="21031200" cy="1493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493628"/>
            </a:xfrm>
            <a:custGeom>
              <a:avLst/>
              <a:gdLst/>
              <a:ahLst/>
              <a:cxnLst/>
              <a:rect r="r" b="b" t="t" l="l"/>
              <a:pathLst>
                <a:path h="1493628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93628"/>
                  </a:lnTo>
                  <a:lnTo>
                    <a:pt x="0" y="1493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604" r="0" b="-26311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1031200" cy="14650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047"/>
                </a:lnSpc>
              </a:pPr>
              <a:r>
                <a:rPr lang="en-US" b="true" sz="5599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Coding And Simulation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88068" y="1788873"/>
            <a:ext cx="8616616" cy="7469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1"/>
              </a:lnSpc>
              <a:spcBef>
                <a:spcPct val="0"/>
              </a:spcBef>
            </a:pPr>
            <a:r>
              <a:rPr lang="en-US" sz="36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Used</a:t>
            </a:r>
          </a:p>
          <a:p>
            <a:pPr algn="l" marL="791857" indent="-395929" lvl="1">
              <a:lnSpc>
                <a:spcPts val="3961"/>
              </a:lnSpc>
              <a:buFont typeface="Arial"/>
              <a:buChar char="•"/>
            </a:pPr>
            <a:r>
              <a:rPr lang="en-US" sz="36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</a:p>
          <a:p>
            <a:pPr algn="l" marL="791857" indent="-395929" lvl="1">
              <a:lnSpc>
                <a:spcPts val="3961"/>
              </a:lnSpc>
              <a:buFont typeface="Arial"/>
              <a:buChar char="•"/>
            </a:pPr>
            <a:r>
              <a:rPr lang="en-US" sz="36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NumPy </a:t>
            </a:r>
          </a:p>
          <a:p>
            <a:pPr algn="l" marL="791857" indent="-395929" lvl="1">
              <a:lnSpc>
                <a:spcPts val="3961"/>
              </a:lnSpc>
              <a:buFont typeface="Arial"/>
              <a:buChar char="•"/>
            </a:pPr>
            <a:r>
              <a:rPr lang="en-US" sz="36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Matplotlib </a:t>
            </a:r>
          </a:p>
          <a:p>
            <a:pPr algn="l" marL="791857" indent="-395929" lvl="1">
              <a:lnSpc>
                <a:spcPts val="3961"/>
              </a:lnSpc>
              <a:buFont typeface="Arial"/>
              <a:buChar char="•"/>
            </a:pPr>
            <a:r>
              <a:rPr lang="en-US" sz="36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SciPy </a:t>
            </a:r>
          </a:p>
          <a:p>
            <a:pPr algn="l" marL="791857" indent="-395929" lvl="1">
              <a:lnSpc>
                <a:spcPts val="3961"/>
              </a:lnSpc>
              <a:buFont typeface="Arial"/>
              <a:buChar char="•"/>
            </a:pPr>
            <a:r>
              <a:rPr lang="en-US" sz="36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Colab</a:t>
            </a:r>
          </a:p>
          <a:p>
            <a:pPr algn="l">
              <a:lnSpc>
                <a:spcPts val="3961"/>
              </a:lnSpc>
              <a:spcBef>
                <a:spcPct val="0"/>
              </a:spcBef>
            </a:pPr>
            <a:r>
              <a:rPr lang="en-US" sz="36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M3 – Fixed-Time Baseline</a:t>
            </a:r>
          </a:p>
          <a:p>
            <a:pPr algn="l" marL="791857" indent="-395929" lvl="1">
              <a:lnSpc>
                <a:spcPts val="3961"/>
              </a:lnSpc>
              <a:buFont typeface="Arial"/>
              <a:buChar char="•"/>
            </a:pPr>
            <a:r>
              <a:rPr lang="en-US" sz="36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600 s</a:t>
            </a:r>
          </a:p>
          <a:p>
            <a:pPr algn="l" marL="791857" indent="-395929" lvl="1">
              <a:lnSpc>
                <a:spcPts val="3961"/>
              </a:lnSpc>
              <a:buFont typeface="Arial"/>
              <a:buChar char="•"/>
            </a:pPr>
            <a:r>
              <a:rPr lang="en-US" sz="36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λ_NS = 0.25, λ_EW = 0.20</a:t>
            </a:r>
          </a:p>
          <a:p>
            <a:pPr algn="l" marL="791857" indent="-395929" lvl="1">
              <a:lnSpc>
                <a:spcPts val="3961"/>
              </a:lnSpc>
              <a:buFont typeface="Arial"/>
              <a:buChar char="•"/>
            </a:pPr>
            <a:r>
              <a:rPr lang="en-US" sz="36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 Time = 30 s (each)</a:t>
            </a:r>
          </a:p>
          <a:p>
            <a:pPr algn="l" marL="791857" indent="-395929" lvl="1">
              <a:lnSpc>
                <a:spcPts val="3961"/>
              </a:lnSpc>
              <a:buFont typeface="Arial"/>
              <a:buChar char="•"/>
            </a:pPr>
            <a:r>
              <a:rPr lang="en-US" sz="36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 ~ N(40, 8)</a:t>
            </a:r>
          </a:p>
          <a:p>
            <a:pPr algn="l">
              <a:lnSpc>
                <a:spcPts val="3961"/>
              </a:lnSpc>
              <a:spcBef>
                <a:spcPct val="0"/>
              </a:spcBef>
            </a:pPr>
            <a:r>
              <a:rPr lang="en-US" sz="36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M4 – Comparison Setup</a:t>
            </a:r>
          </a:p>
          <a:p>
            <a:pPr algn="l" marL="791857" indent="-395929" lvl="1">
              <a:lnSpc>
                <a:spcPts val="3961"/>
              </a:lnSpc>
              <a:buFont typeface="Arial"/>
              <a:buChar char="•"/>
            </a:pPr>
            <a:r>
              <a:rPr lang="en-US" sz="36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200 steps</a:t>
            </a:r>
          </a:p>
          <a:p>
            <a:pPr algn="l" marL="791857" indent="-395929" lvl="1">
              <a:lnSpc>
                <a:spcPts val="3961"/>
              </a:lnSpc>
              <a:buFont typeface="Arial"/>
              <a:buChar char="•"/>
            </a:pPr>
            <a:r>
              <a:rPr lang="en-US" sz="36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λ_NS = λ_EW = 5 vehicles/step</a:t>
            </a:r>
          </a:p>
          <a:p>
            <a:pPr algn="l" marL="791857" indent="-395929" lvl="1">
              <a:lnSpc>
                <a:spcPts val="3961"/>
              </a:lnSpc>
              <a:buFont typeface="Arial"/>
              <a:buChar char="•"/>
            </a:pPr>
            <a:r>
              <a:rPr lang="en-US" sz="36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Rate = 6 vehicles/step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25" y="10134600"/>
            <a:ext cx="3898078" cy="152400"/>
            <a:chOff x="0" y="0"/>
            <a:chExt cx="5197437" cy="203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85949" b="-1846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800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00749" b="-18488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0458666" y="2270638"/>
            <a:ext cx="7062173" cy="5527304"/>
          </a:xfrm>
          <a:custGeom>
            <a:avLst/>
            <a:gdLst/>
            <a:ahLst/>
            <a:cxnLst/>
            <a:rect r="r" b="b" t="t" l="l"/>
            <a:pathLst>
              <a:path h="5527304" w="7062173">
                <a:moveTo>
                  <a:pt x="0" y="0"/>
                </a:moveTo>
                <a:lnTo>
                  <a:pt x="7062173" y="0"/>
                </a:lnTo>
                <a:lnTo>
                  <a:pt x="7062173" y="5527304"/>
                </a:lnTo>
                <a:lnTo>
                  <a:pt x="0" y="55273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1000"/>
            </a:blip>
            <a:stretch>
              <a:fillRect l="0" t="0" r="0" b="0"/>
            </a:stretch>
          </a:blipFill>
          <a:ln w="38100" cap="sq">
            <a:solidFill>
              <a:srgbClr val="000000">
                <a:alpha val="60784"/>
              </a:srgbClr>
            </a:solidFill>
            <a:prstDash val="lgDash"/>
            <a:miter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70872" y="10134600"/>
            <a:ext cx="3898078" cy="158248"/>
            <a:chOff x="0" y="0"/>
            <a:chExt cx="5197437" cy="210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7745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530819" y="1611476"/>
            <a:ext cx="7680107" cy="6028884"/>
          </a:xfrm>
          <a:custGeom>
            <a:avLst/>
            <a:gdLst/>
            <a:ahLst/>
            <a:cxnLst/>
            <a:rect r="r" b="b" t="t" l="l"/>
            <a:pathLst>
              <a:path h="6028884" w="7680107">
                <a:moveTo>
                  <a:pt x="0" y="0"/>
                </a:moveTo>
                <a:lnTo>
                  <a:pt x="7680107" y="0"/>
                </a:lnTo>
                <a:lnTo>
                  <a:pt x="7680107" y="6028884"/>
                </a:lnTo>
                <a:lnTo>
                  <a:pt x="0" y="602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  <a:ln w="38100" cap="sq">
            <a:solidFill>
              <a:srgbClr val="000000">
                <a:alpha val="69804"/>
              </a:srgbClr>
            </a:solidFill>
            <a:prstDash val="lgDash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547745" y="402968"/>
            <a:ext cx="10137079" cy="847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4403" b="true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</a:t>
            </a:r>
            <a:r>
              <a:rPr lang="en-US" b="true" sz="4403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ing Logic</a:t>
            </a:r>
          </a:p>
          <a:p>
            <a:pPr algn="l">
              <a:lnSpc>
                <a:spcPts val="4755"/>
              </a:lnSpc>
            </a:pPr>
          </a:p>
          <a:p>
            <a:pPr algn="l">
              <a:lnSpc>
                <a:spcPts val="4146"/>
              </a:lnSpc>
            </a:pPr>
            <a:r>
              <a:rPr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M3 (Fixed-Time)</a:t>
            </a:r>
          </a:p>
          <a:p>
            <a:pPr algn="l" marL="828833" indent="-414417" lvl="1">
              <a:lnSpc>
                <a:spcPts val="4146"/>
              </a:lnSpc>
              <a:buFont typeface="Arial"/>
              <a:buChar char="•"/>
            </a:pPr>
            <a:r>
              <a:rPr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Poisson arrivals</a:t>
            </a:r>
          </a:p>
          <a:p>
            <a:pPr algn="l" marL="828833" indent="-414417" lvl="1">
              <a:lnSpc>
                <a:spcPts val="4146"/>
              </a:lnSpc>
              <a:buFont typeface="Arial"/>
              <a:buChar char="•"/>
            </a:pPr>
            <a:r>
              <a:rPr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30 s signal cycle</a:t>
            </a:r>
          </a:p>
          <a:p>
            <a:pPr algn="l" marL="828833" indent="-414417" lvl="1">
              <a:lnSpc>
                <a:spcPts val="4146"/>
              </a:lnSpc>
              <a:buFont typeface="Arial"/>
              <a:buChar char="•"/>
            </a:pPr>
            <a:r>
              <a:rPr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update:</a:t>
            </a:r>
          </a:p>
          <a:p>
            <a:pPr algn="l" marL="1657666" indent="-552555" lvl="2">
              <a:lnSpc>
                <a:spcPts val="4146"/>
              </a:lnSpc>
              <a:buFont typeface="Arial"/>
              <a:buChar char="⚬"/>
            </a:pPr>
            <a:r>
              <a:rPr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Q(t+1) = Q(t) + Arrivals − Departures</a:t>
            </a:r>
          </a:p>
          <a:p>
            <a:pPr algn="l">
              <a:lnSpc>
                <a:spcPts val="4146"/>
              </a:lnSpc>
            </a:pPr>
            <a:r>
              <a:rPr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M4 D</a:t>
            </a:r>
            <a:r>
              <a:rPr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eterministic</a:t>
            </a:r>
          </a:p>
          <a:p>
            <a:pPr algn="l" marL="828833" indent="-414417" lvl="1">
              <a:lnSpc>
                <a:spcPts val="4146"/>
              </a:lnSpc>
              <a:buFont typeface="Arial"/>
              <a:buChar char="•"/>
            </a:pPr>
            <a:r>
              <a:rPr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lter</a:t>
            </a:r>
            <a:r>
              <a:rPr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nates every step</a:t>
            </a:r>
          </a:p>
          <a:p>
            <a:pPr algn="l" marL="828833" indent="-414417" lvl="1">
              <a:lnSpc>
                <a:spcPts val="4146"/>
              </a:lnSpc>
              <a:buFont typeface="Arial"/>
              <a:buChar char="•"/>
            </a:pPr>
            <a:r>
              <a:rPr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traffic awareness</a:t>
            </a:r>
          </a:p>
          <a:p>
            <a:pPr algn="l">
              <a:lnSpc>
                <a:spcPts val="4146"/>
              </a:lnSpc>
            </a:pPr>
            <a:r>
              <a:rPr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M4 Randomized</a:t>
            </a:r>
          </a:p>
          <a:p>
            <a:pPr algn="l" marL="828833" indent="-414417" lvl="1">
              <a:lnSpc>
                <a:spcPts val="4146"/>
              </a:lnSpc>
              <a:spcBef>
                <a:spcPct val="0"/>
              </a:spcBef>
              <a:buFont typeface="Arial"/>
              <a:buChar char="•"/>
            </a:pPr>
            <a:r>
              <a:rPr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= Q_NS /</a:t>
            </a:r>
            <a:r>
              <a:rPr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(Q_NS + Q_EW)</a:t>
            </a:r>
          </a:p>
          <a:p>
            <a:pPr algn="l" marL="828833" indent="-414417" lvl="1">
              <a:lnSpc>
                <a:spcPts val="4146"/>
              </a:lnSpc>
              <a:buFont typeface="Arial"/>
              <a:buChar char="•"/>
            </a:pPr>
            <a:r>
              <a:rPr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~ Uniform(0,1)</a:t>
            </a:r>
          </a:p>
          <a:p>
            <a:pPr algn="l" marL="828833" indent="-414417" lvl="1">
              <a:lnSpc>
                <a:spcPts val="4146"/>
              </a:lnSpc>
              <a:buFont typeface="Arial"/>
              <a:buChar char="•"/>
            </a:pPr>
            <a:r>
              <a:rPr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 &lt; p → NS, else EW</a:t>
            </a:r>
          </a:p>
          <a:p>
            <a:pPr algn="l" marL="828833" indent="-414417" lvl="1">
              <a:lnSpc>
                <a:spcPts val="4146"/>
              </a:lnSpc>
              <a:buFont typeface="Arial"/>
              <a:buChar char="•"/>
            </a:pPr>
            <a:r>
              <a:rPr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 randomization (Poisson Colouring)</a:t>
            </a:r>
          </a:p>
          <a:p>
            <a:pPr algn="l">
              <a:lnSpc>
                <a:spcPts val="4146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7173" y="324527"/>
            <a:ext cx="15404529" cy="9183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1"/>
              </a:lnSpc>
              <a:spcBef>
                <a:spcPct val="0"/>
              </a:spcBef>
            </a:pPr>
            <a:r>
              <a:rPr lang="en-US" b="true" sz="3917">
                <a:solidFill>
                  <a:srgbClr val="C00000"/>
                </a:solidFill>
                <a:latin typeface="Arimo Bold"/>
                <a:ea typeface="Arimo Bold"/>
                <a:cs typeface="Arimo Bold"/>
                <a:sym typeface="Arimo Bold"/>
              </a:rPr>
              <a:t>Monte Carlo, Results &amp; Graphs</a:t>
            </a:r>
          </a:p>
          <a:p>
            <a:pPr algn="ctr">
              <a:lnSpc>
                <a:spcPts val="4231"/>
              </a:lnSpc>
              <a:spcBef>
                <a:spcPct val="0"/>
              </a:spcBef>
            </a:pPr>
          </a:p>
          <a:p>
            <a:pPr algn="l">
              <a:lnSpc>
                <a:spcPts val="4015"/>
              </a:lnSpc>
              <a:spcBef>
                <a:spcPct val="0"/>
              </a:spcBef>
            </a:pPr>
            <a:r>
              <a:rPr lang="en-US" sz="37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Monte Carlo Setup</a:t>
            </a:r>
          </a:p>
          <a:p>
            <a:pPr algn="l" marL="802659" indent="-401329" lvl="1">
              <a:lnSpc>
                <a:spcPts val="4015"/>
              </a:lnSpc>
              <a:spcBef>
                <a:spcPct val="0"/>
              </a:spcBef>
              <a:buFont typeface="Arial"/>
              <a:buChar char="•"/>
            </a:pPr>
            <a:r>
              <a:rPr lang="en-US" sz="37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for T = 200 steps</a:t>
            </a:r>
          </a:p>
          <a:p>
            <a:pPr algn="l" marL="802659" indent="-401329" lvl="1">
              <a:lnSpc>
                <a:spcPts val="4015"/>
              </a:lnSpc>
              <a:spcBef>
                <a:spcPct val="0"/>
              </a:spcBef>
              <a:buFont typeface="Arial"/>
              <a:buChar char="•"/>
            </a:pPr>
            <a:r>
              <a:rPr lang="en-US" sz="37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Metrics averaged over runs</a:t>
            </a:r>
          </a:p>
          <a:p>
            <a:pPr algn="l">
              <a:lnSpc>
                <a:spcPts val="4015"/>
              </a:lnSpc>
              <a:spcBef>
                <a:spcPct val="0"/>
              </a:spcBef>
            </a:pPr>
          </a:p>
          <a:p>
            <a:pPr algn="l">
              <a:lnSpc>
                <a:spcPts val="4015"/>
              </a:lnSpc>
              <a:spcBef>
                <a:spcPct val="0"/>
              </a:spcBef>
            </a:pPr>
            <a:r>
              <a:rPr lang="en-US" sz="37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Metrics</a:t>
            </a:r>
          </a:p>
          <a:p>
            <a:pPr algn="l" marL="802659" indent="-401329" lvl="1">
              <a:lnSpc>
                <a:spcPts val="4015"/>
              </a:lnSpc>
              <a:spcBef>
                <a:spcPct val="0"/>
              </a:spcBef>
              <a:buFont typeface="Arial"/>
              <a:buChar char="•"/>
            </a:pPr>
            <a:r>
              <a:rPr lang="en-US" sz="37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Waiting Time · Queue Length · Throughput</a:t>
            </a:r>
          </a:p>
          <a:p>
            <a:pPr algn="l">
              <a:lnSpc>
                <a:spcPts val="4015"/>
              </a:lnSpc>
              <a:spcBef>
                <a:spcPct val="0"/>
              </a:spcBef>
            </a:pPr>
          </a:p>
          <a:p>
            <a:pPr algn="l">
              <a:lnSpc>
                <a:spcPts val="4015"/>
              </a:lnSpc>
              <a:spcBef>
                <a:spcPct val="0"/>
              </a:spcBef>
            </a:pPr>
            <a:r>
              <a:rPr lang="en-US" sz="37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(M4)</a:t>
            </a:r>
          </a:p>
          <a:p>
            <a:pPr algn="l" marL="802659" indent="-401329" lvl="1">
              <a:lnSpc>
                <a:spcPts val="4015"/>
              </a:lnSpc>
              <a:spcBef>
                <a:spcPct val="0"/>
              </a:spcBef>
              <a:buFont typeface="Arial"/>
              <a:buChar char="•"/>
            </a:pPr>
            <a:r>
              <a:rPr lang="en-US" sz="37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Deterministic → Wait: 405.4 | Queue: 189.0 | Throughput: 1200</a:t>
            </a:r>
          </a:p>
          <a:p>
            <a:pPr algn="l" marL="802659" indent="-401329" lvl="1">
              <a:lnSpc>
                <a:spcPts val="4015"/>
              </a:lnSpc>
              <a:spcBef>
                <a:spcPct val="0"/>
              </a:spcBef>
              <a:buFont typeface="Arial"/>
              <a:buChar char="•"/>
            </a:pPr>
            <a:r>
              <a:rPr lang="en-US" sz="37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Randomized → Wait: 388.8 | Queue: 191.1 | Throughput: 1197</a:t>
            </a:r>
          </a:p>
          <a:p>
            <a:pPr algn="l">
              <a:lnSpc>
                <a:spcPts val="4015"/>
              </a:lnSpc>
              <a:spcBef>
                <a:spcPct val="0"/>
              </a:spcBef>
            </a:pPr>
            <a:r>
              <a:rPr lang="en-US" sz="37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  <a:p>
            <a:pPr algn="l" marL="802659" indent="-401329" lvl="1">
              <a:lnSpc>
                <a:spcPts val="4015"/>
              </a:lnSpc>
              <a:spcBef>
                <a:spcPct val="0"/>
              </a:spcBef>
              <a:buFont typeface="Arial"/>
              <a:buChar char="•"/>
            </a:pPr>
            <a:r>
              <a:rPr lang="en-US" sz="37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waiting time with similar throughput</a:t>
            </a:r>
          </a:p>
          <a:p>
            <a:pPr algn="l" marL="802659" indent="-401329" lvl="1">
              <a:lnSpc>
                <a:spcPts val="4015"/>
              </a:lnSpc>
              <a:spcBef>
                <a:spcPct val="0"/>
              </a:spcBef>
              <a:buFont typeface="Arial"/>
              <a:buChar char="•"/>
            </a:pPr>
            <a:r>
              <a:rPr lang="en-US" sz="37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(state-dependent) control is better</a:t>
            </a:r>
          </a:p>
          <a:p>
            <a:pPr algn="l">
              <a:lnSpc>
                <a:spcPts val="4015"/>
              </a:lnSpc>
              <a:spcBef>
                <a:spcPct val="0"/>
              </a:spcBef>
            </a:pPr>
            <a:r>
              <a:rPr lang="en-US" sz="37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</a:p>
          <a:p>
            <a:pPr algn="l" marL="802659" indent="-401329" lvl="1">
              <a:lnSpc>
                <a:spcPts val="4015"/>
              </a:lnSpc>
              <a:spcBef>
                <a:spcPct val="0"/>
              </a:spcBef>
              <a:buFont typeface="Arial"/>
              <a:buChar char="•"/>
            </a:pPr>
            <a:r>
              <a:rPr lang="en-US" sz="37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vs Time · Comparison charts · PDFs/CDFs · Waiting time distribution</a:t>
            </a:r>
          </a:p>
          <a:p>
            <a:pPr algn="ctr">
              <a:lnSpc>
                <a:spcPts val="4015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4408972" y="10134600"/>
            <a:ext cx="3898078" cy="158248"/>
            <a:chOff x="0" y="0"/>
            <a:chExt cx="5197437" cy="2109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1266242" y="0"/>
            <a:ext cx="6285462" cy="5034081"/>
          </a:xfrm>
          <a:custGeom>
            <a:avLst/>
            <a:gdLst/>
            <a:ahLst/>
            <a:cxnLst/>
            <a:rect r="r" b="b" t="t" l="l"/>
            <a:pathLst>
              <a:path h="5034081" w="6285462">
                <a:moveTo>
                  <a:pt x="0" y="0"/>
                </a:moveTo>
                <a:lnTo>
                  <a:pt x="6285461" y="0"/>
                </a:lnTo>
                <a:lnTo>
                  <a:pt x="6285461" y="5034081"/>
                </a:lnTo>
                <a:lnTo>
                  <a:pt x="0" y="50340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7000"/>
            </a:blip>
            <a:stretch>
              <a:fillRect l="-2552" t="0" r="0" b="0"/>
            </a:stretch>
          </a:blipFill>
          <a:ln w="38100" cap="sq">
            <a:solidFill>
              <a:srgbClr val="000000">
                <a:alpha val="66667"/>
              </a:srgbClr>
            </a:solidFill>
            <a:prstDash val="lgDash"/>
            <a:miter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-959853"/>
            <a:ext cx="15773400" cy="1988553"/>
            <a:chOff x="0" y="0"/>
            <a:chExt cx="21031200" cy="26514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2651400"/>
            </a:xfrm>
            <a:custGeom>
              <a:avLst/>
              <a:gdLst/>
              <a:ahLst/>
              <a:cxnLst/>
              <a:rect r="r" b="b" t="t" l="l"/>
              <a:pathLst>
                <a:path h="2651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400"/>
                  </a:lnTo>
                  <a:lnTo>
                    <a:pt x="0" y="2651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557" r="0" b="-10455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262282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b="true" sz="480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Results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46" cy="566100"/>
            <a:chOff x="0" y="0"/>
            <a:chExt cx="1102195" cy="754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00" cy="754801"/>
            </a:xfrm>
            <a:custGeom>
              <a:avLst/>
              <a:gdLst/>
              <a:ahLst/>
              <a:cxnLst/>
              <a:rect r="r" b="b" t="t" l="l"/>
              <a:pathLst>
                <a:path h="754801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1"/>
                  </a:lnTo>
                  <a:lnTo>
                    <a:pt x="0" y="75480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102195" cy="77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Arimo"/>
                  <a:ea typeface="Arimo"/>
                  <a:cs typeface="Arimo"/>
                  <a:sym typeface="Arimo"/>
                </a:rPr>
                <a:t>  7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1249123"/>
            <a:ext cx="10598416" cy="7915129"/>
            <a:chOff x="0" y="0"/>
            <a:chExt cx="13548742" cy="101184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548740" cy="10118496"/>
            </a:xfrm>
            <a:custGeom>
              <a:avLst/>
              <a:gdLst/>
              <a:ahLst/>
              <a:cxnLst/>
              <a:rect r="r" b="b" t="t" l="l"/>
              <a:pathLst>
                <a:path h="10118496" w="13548740">
                  <a:moveTo>
                    <a:pt x="0" y="0"/>
                  </a:moveTo>
                  <a:lnTo>
                    <a:pt x="13548740" y="0"/>
                  </a:lnTo>
                  <a:lnTo>
                    <a:pt x="13548740" y="10118496"/>
                  </a:lnTo>
                  <a:lnTo>
                    <a:pt x="0" y="101184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56" r="0" b="-255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13548742" cy="101089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57225" indent="-328612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M1 &amp; M2 (Foundations):  </a:t>
              </a: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Established the stochastic nature of the system. We proved that arrivals {Poisson}(lambda) and vehicle speeds {Normal} create a high-variance environment that a simple system cannot ignore.</a:t>
              </a:r>
            </a:p>
            <a:p>
              <a:pPr algn="l" marL="657225" indent="-328612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M3 (The Deterministic Baseline): </a:t>
              </a:r>
            </a:p>
            <a:p>
              <a:pPr algn="l" marL="657225" indent="-328612" lvl="1">
                <a:lnSpc>
                  <a:spcPts val="324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Result: High average waiting time (E[W]) and queue "overflow."</a:t>
              </a:r>
            </a:p>
            <a:p>
              <a:pPr algn="l" marL="657225" indent="-328612" lvl="1">
                <a:lnSpc>
                  <a:spcPts val="324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Insight: A State-Independent fixed timer (30s) is inefficient because it allocates resources (green light) regardless of demand.</a:t>
              </a:r>
            </a:p>
            <a:p>
              <a:pPr algn="l" marL="657225" indent="-328612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M4 (The Randomized Leap): </a:t>
              </a:r>
            </a:p>
            <a:p>
              <a:pPr algn="l" marL="657225" indent="-328612" lvl="1">
                <a:lnSpc>
                  <a:spcPts val="324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Result: Significant reduction in average waiting time and more stable queue behavior.</a:t>
              </a:r>
            </a:p>
            <a:p>
              <a:pPr algn="l" marL="657225" indent="-328612" lvl="1">
                <a:lnSpc>
                  <a:spcPts val="324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Insight: By using Poisson Coloring, we introduced State-Dependent logic. The light "marks" the busiest lane for service based on weighted probabilities, effectively absorbing traffic bursts.</a:t>
              </a:r>
            </a:p>
            <a:p>
              <a:pPr algn="l" marL="657225" indent="-328612" lvl="1">
                <a:lnSpc>
                  <a:spcPts val="360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1767907" y="223640"/>
            <a:ext cx="5491393" cy="4361416"/>
          </a:xfrm>
          <a:custGeom>
            <a:avLst/>
            <a:gdLst/>
            <a:ahLst/>
            <a:cxnLst/>
            <a:rect r="r" b="b" t="t" l="l"/>
            <a:pathLst>
              <a:path h="4361416" w="5491393">
                <a:moveTo>
                  <a:pt x="0" y="0"/>
                </a:moveTo>
                <a:lnTo>
                  <a:pt x="5491393" y="0"/>
                </a:lnTo>
                <a:lnTo>
                  <a:pt x="5491393" y="4361415"/>
                </a:lnTo>
                <a:lnTo>
                  <a:pt x="0" y="43614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87" t="0" r="-587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767907" y="5136866"/>
            <a:ext cx="5491393" cy="4290151"/>
          </a:xfrm>
          <a:custGeom>
            <a:avLst/>
            <a:gdLst/>
            <a:ahLst/>
            <a:cxnLst/>
            <a:rect r="r" b="b" t="t" l="l"/>
            <a:pathLst>
              <a:path h="4290151" w="5491393">
                <a:moveTo>
                  <a:pt x="0" y="0"/>
                </a:moveTo>
                <a:lnTo>
                  <a:pt x="5491393" y="0"/>
                </a:lnTo>
                <a:lnTo>
                  <a:pt x="5491393" y="4290150"/>
                </a:lnTo>
                <a:lnTo>
                  <a:pt x="0" y="4290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1408"/>
            <a:ext cx="7016732" cy="5842214"/>
          </a:xfrm>
          <a:custGeom>
            <a:avLst/>
            <a:gdLst/>
            <a:ahLst/>
            <a:cxnLst/>
            <a:rect r="r" b="b" t="t" l="l"/>
            <a:pathLst>
              <a:path h="5842214" w="7016732">
                <a:moveTo>
                  <a:pt x="0" y="0"/>
                </a:moveTo>
                <a:lnTo>
                  <a:pt x="7016732" y="0"/>
                </a:lnTo>
                <a:lnTo>
                  <a:pt x="7016732" y="5842214"/>
                </a:lnTo>
                <a:lnTo>
                  <a:pt x="0" y="5842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2" t="0" r="-289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69556" y="0"/>
            <a:ext cx="7179372" cy="5842214"/>
          </a:xfrm>
          <a:custGeom>
            <a:avLst/>
            <a:gdLst/>
            <a:ahLst/>
            <a:cxnLst/>
            <a:rect r="r" b="b" t="t" l="l"/>
            <a:pathLst>
              <a:path h="5842214" w="7179372">
                <a:moveTo>
                  <a:pt x="0" y="0"/>
                </a:moveTo>
                <a:lnTo>
                  <a:pt x="7179372" y="0"/>
                </a:lnTo>
                <a:lnTo>
                  <a:pt x="7179372" y="5842214"/>
                </a:lnTo>
                <a:lnTo>
                  <a:pt x="0" y="5842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48380" y="6024849"/>
            <a:ext cx="6297052" cy="4160923"/>
          </a:xfrm>
          <a:custGeom>
            <a:avLst/>
            <a:gdLst/>
            <a:ahLst/>
            <a:cxnLst/>
            <a:rect r="r" b="b" t="t" l="l"/>
            <a:pathLst>
              <a:path h="4160923" w="6297052">
                <a:moveTo>
                  <a:pt x="0" y="0"/>
                </a:moveTo>
                <a:lnTo>
                  <a:pt x="6297052" y="0"/>
                </a:lnTo>
                <a:lnTo>
                  <a:pt x="6297052" y="4160923"/>
                </a:lnTo>
                <a:lnTo>
                  <a:pt x="0" y="4160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40" t="0" r="-44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69556" y="5923622"/>
            <a:ext cx="6134803" cy="4363378"/>
          </a:xfrm>
          <a:custGeom>
            <a:avLst/>
            <a:gdLst/>
            <a:ahLst/>
            <a:cxnLst/>
            <a:rect r="r" b="b" t="t" l="l"/>
            <a:pathLst>
              <a:path h="4363378" w="6134803">
                <a:moveTo>
                  <a:pt x="0" y="0"/>
                </a:moveTo>
                <a:lnTo>
                  <a:pt x="6134803" y="0"/>
                </a:lnTo>
                <a:lnTo>
                  <a:pt x="6134803" y="4363378"/>
                </a:lnTo>
                <a:lnTo>
                  <a:pt x="0" y="43633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30071" r="0" b="-430095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6300" y="-446256"/>
            <a:ext cx="15773400" cy="1988550"/>
            <a:chOff x="0" y="0"/>
            <a:chExt cx="21031200" cy="2651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2651396"/>
            </a:xfrm>
            <a:custGeom>
              <a:avLst/>
              <a:gdLst/>
              <a:ahLst/>
              <a:cxnLst/>
              <a:rect r="r" b="b" t="t" l="l"/>
              <a:pathLst>
                <a:path h="265139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396"/>
                  </a:lnTo>
                  <a:lnTo>
                    <a:pt x="0" y="26513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557" r="0" b="-10455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21031200" cy="260377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</a:p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Inference- Domain Perspective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46" cy="566100"/>
            <a:chOff x="0" y="0"/>
            <a:chExt cx="1102195" cy="754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00" cy="754801"/>
            </a:xfrm>
            <a:custGeom>
              <a:avLst/>
              <a:gdLst/>
              <a:ahLst/>
              <a:cxnLst/>
              <a:rect r="r" b="b" t="t" l="l"/>
              <a:pathLst>
                <a:path h="754801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1"/>
                  </a:lnTo>
                  <a:lnTo>
                    <a:pt x="0" y="75480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102195" cy="77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Arimo"/>
                  <a:ea typeface="Arimo"/>
                  <a:cs typeface="Arimo"/>
                  <a:sym typeface="Arimo"/>
                </a:rPr>
                <a:t>  10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38220" y="2180706"/>
            <a:ext cx="16034671" cy="7776195"/>
            <a:chOff x="0" y="0"/>
            <a:chExt cx="21379561" cy="103682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79565" cy="10368261"/>
            </a:xfrm>
            <a:custGeom>
              <a:avLst/>
              <a:gdLst/>
              <a:ahLst/>
              <a:cxnLst/>
              <a:rect r="r" b="b" t="t" l="l"/>
              <a:pathLst>
                <a:path h="10368261" w="21379565">
                  <a:moveTo>
                    <a:pt x="0" y="0"/>
                  </a:moveTo>
                  <a:lnTo>
                    <a:pt x="21379565" y="0"/>
                  </a:lnTo>
                  <a:lnTo>
                    <a:pt x="21379565" y="10368261"/>
                  </a:lnTo>
                  <a:lnTo>
                    <a:pt x="0" y="103682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989" t="0" r="-10989" b="198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1379561" cy="1039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65353" indent="-382676" lvl="1">
                <a:lnSpc>
                  <a:spcPts val="4320"/>
                </a:lnSpc>
                <a:buFont typeface="Arial"/>
                <a:buChar char="•"/>
              </a:pPr>
              <a:r>
                <a:rPr lang="en-US" b="true" sz="36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Probabilistic adaptation outperforms fixed timing</a:t>
              </a: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under stochastic traffic. The randomized greedy policy reduces waiting times because it responds to real‑time imbalances.</a:t>
              </a:r>
            </a:p>
            <a:p>
              <a:pPr algn="l" marL="765353" indent="-382676" lvl="1">
                <a:lnSpc>
                  <a:spcPts val="4320"/>
                </a:lnSpc>
                <a:buFont typeface="Arial"/>
                <a:buChar char="•"/>
              </a:pPr>
              <a:r>
                <a:rPr lang="en-US" b="true" sz="36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Poisson modeling is a practical starting point</a:t>
              </a: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for traffic arrival processes, especially when the goal is to design controllers that work under uncertainty.</a:t>
              </a:r>
            </a:p>
            <a:p>
              <a:pPr algn="l" marL="765353" indent="-382676" lvl="1">
                <a:lnSpc>
                  <a:spcPts val="4320"/>
                </a:lnSpc>
                <a:buFont typeface="Arial"/>
                <a:buChar char="•"/>
              </a:pPr>
              <a:r>
                <a:rPr lang="en-US" b="true" sz="36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Simple weighting schemes</a:t>
              </a: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(queue‑proportional probabilities) balance efficiency and fairness without requiring complex optimization.</a:t>
              </a:r>
            </a:p>
            <a:p>
              <a:pPr algn="l" marL="765353" indent="-382676" lvl="1">
                <a:lnSpc>
                  <a:spcPts val="4320"/>
                </a:lnSpc>
                <a:buFont typeface="Arial"/>
                <a:buChar char="•"/>
              </a:pPr>
              <a:r>
                <a:rPr lang="en-US" b="true" sz="36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Monte Carlo simulation</a:t>
              </a: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is a powerful tool to evaluate stochastic systems when analytical solutions are intractable.</a:t>
              </a:r>
            </a:p>
            <a:p>
              <a:pPr algn="l" marL="765353" indent="-382676" lvl="1">
                <a:lnSpc>
                  <a:spcPts val="4320"/>
                </a:lnSpc>
                <a:buFont typeface="Arial"/>
                <a:buChar char="•"/>
              </a:pPr>
              <a:r>
                <a:rPr lang="en-US" b="true" sz="36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research paper’s theoretical foundations</a:t>
              </a: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(superposition, colouring) provide rigorous justification for decomposing the intersection into independent lane processes.</a:t>
              </a:r>
            </a:p>
            <a:p>
              <a:pPr algn="l">
                <a:lnSpc>
                  <a:spcPts val="4320"/>
                </a:lnSpc>
              </a:pPr>
            </a:p>
            <a:p>
              <a:pPr algn="l" marL="765810" indent="-382905" lvl="1">
                <a:lnSpc>
                  <a:spcPts val="4320"/>
                </a:lnSpc>
              </a:pP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6300" y="-446256"/>
            <a:ext cx="15773400" cy="1988550"/>
            <a:chOff x="0" y="0"/>
            <a:chExt cx="21031200" cy="2651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2651396"/>
            </a:xfrm>
            <a:custGeom>
              <a:avLst/>
              <a:gdLst/>
              <a:ahLst/>
              <a:cxnLst/>
              <a:rect r="r" b="b" t="t" l="l"/>
              <a:pathLst>
                <a:path h="265139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396"/>
                  </a:lnTo>
                  <a:lnTo>
                    <a:pt x="0" y="26513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557" r="0" b="-10455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21031200" cy="260377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</a:p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Inference- computer science perspective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46" cy="566100"/>
            <a:chOff x="0" y="0"/>
            <a:chExt cx="1102195" cy="754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00" cy="754801"/>
            </a:xfrm>
            <a:custGeom>
              <a:avLst/>
              <a:gdLst/>
              <a:ahLst/>
              <a:cxnLst/>
              <a:rect r="r" b="b" t="t" l="l"/>
              <a:pathLst>
                <a:path h="754801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1"/>
                  </a:lnTo>
                  <a:lnTo>
                    <a:pt x="0" y="75480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102195" cy="77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Arimo"/>
                  <a:ea typeface="Arimo"/>
                  <a:cs typeface="Arimo"/>
                  <a:sym typeface="Arimo"/>
                </a:rPr>
                <a:t>  9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82673" y="1791595"/>
            <a:ext cx="16034671" cy="7622086"/>
            <a:chOff x="0" y="0"/>
            <a:chExt cx="21379561" cy="101627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79565" cy="10162783"/>
            </a:xfrm>
            <a:custGeom>
              <a:avLst/>
              <a:gdLst/>
              <a:ahLst/>
              <a:cxnLst/>
              <a:rect r="r" b="b" t="t" l="l"/>
              <a:pathLst>
                <a:path h="10162783" w="21379565">
                  <a:moveTo>
                    <a:pt x="0" y="0"/>
                  </a:moveTo>
                  <a:lnTo>
                    <a:pt x="21379565" y="0"/>
                  </a:lnTo>
                  <a:lnTo>
                    <a:pt x="21379565" y="10162783"/>
                  </a:lnTo>
                  <a:lnTo>
                    <a:pt x="0" y="101627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989" t="0" r="-10989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21379561" cy="101437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65810" indent="-382905" lvl="1">
                <a:lnSpc>
                  <a:spcPts val="3888"/>
                </a:lnSpc>
                <a:buFont typeface="Arial"/>
                <a:buChar char="•"/>
              </a:pPr>
              <a:r>
                <a:rPr lang="en-US" b="true" sz="36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State-Dependency is Key:</a:t>
              </a: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 system that "looks" at the road (M4) will always beat a "blind" timer (M3). Observation is the first step of intelligence.</a:t>
              </a:r>
            </a:p>
            <a:p>
              <a:pPr algn="l" marL="765810" indent="-382905" lvl="1">
                <a:lnSpc>
                  <a:spcPts val="3888"/>
                </a:lnSpc>
                <a:buFont typeface="Arial"/>
                <a:buChar char="•"/>
              </a:pPr>
              <a:r>
                <a:rPr lang="en-US" b="true" sz="36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Randomness as a Tool:</a:t>
              </a: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Poisson Marking isn't guessing—it’s a mathematical way to absorb the "shocks" of unpredictable traffic bursts.</a:t>
              </a:r>
            </a:p>
            <a:p>
              <a:pPr algn="l" marL="765810" indent="-382905" lvl="1">
                <a:lnSpc>
                  <a:spcPts val="3888"/>
                </a:lnSpc>
                <a:buFont typeface="Arial"/>
                <a:buChar char="•"/>
              </a:pPr>
              <a:r>
                <a:rPr lang="en-US" b="true" sz="36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Efficiency-Fairness Trade-off: </a:t>
              </a: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Maximizing total flow can lead to "Starvation" (neglecting quiet lanes).</a:t>
              </a:r>
            </a:p>
            <a:p>
              <a:pPr algn="l" marL="765810" indent="-382905" lvl="1">
                <a:lnSpc>
                  <a:spcPts val="3888"/>
                </a:lnSpc>
                <a:buFont typeface="Arial"/>
                <a:buChar char="•"/>
              </a:pPr>
              <a:r>
                <a:rPr lang="en-US" b="true" sz="36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Lesson:</a:t>
              </a: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Smart systems need "Guardrails" (like max-red timers) to balance efficiency with fairness.</a:t>
              </a:r>
            </a:p>
            <a:p>
              <a:pPr algn="l" marL="765810" indent="-382905" lvl="1">
                <a:lnSpc>
                  <a:spcPts val="3888"/>
                </a:lnSpc>
                <a:buFont typeface="Arial"/>
                <a:buChar char="•"/>
              </a:pPr>
              <a:r>
                <a:rPr lang="en-US" b="true" sz="36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Scalability:</a:t>
              </a: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Performance gains don't always need expensive sensors; they often just need smarter probabilistic algorithms.</a:t>
              </a:r>
            </a:p>
            <a:p>
              <a:pPr algn="l" marL="765810" indent="-382905" lvl="1">
                <a:lnSpc>
                  <a:spcPts val="3888"/>
                </a:lnSpc>
                <a:buFont typeface="Arial"/>
                <a:buChar char="•"/>
              </a:pPr>
              <a:r>
                <a:rPr lang="en-US" b="true" sz="36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Big Picture: </a:t>
              </a: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We transitioned from a Rigid System to an Adaptive System, moving closer to real-world "Smart City" logic.</a:t>
              </a:r>
            </a:p>
            <a:p>
              <a:pPr algn="l" marL="765810" indent="-382905" lvl="1">
                <a:lnSpc>
                  <a:spcPts val="4320"/>
                </a:lnSpc>
              </a:pP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3944"/>
            <a:ext cx="15708294" cy="1621262"/>
            <a:chOff x="0" y="0"/>
            <a:chExt cx="21031200" cy="21706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170639"/>
            </a:xfrm>
            <a:custGeom>
              <a:avLst/>
              <a:gdLst/>
              <a:ahLst/>
              <a:cxnLst/>
              <a:rect r="r" b="b" t="t" l="l"/>
              <a:pathLst>
                <a:path h="2170639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170639"/>
                  </a:lnTo>
                  <a:lnTo>
                    <a:pt x="0" y="21706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715" r="0" b="-1498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1031200" cy="214206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184"/>
                </a:lnSpc>
              </a:pPr>
              <a:r>
                <a:rPr lang="en-US" sz="4800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References</a:t>
              </a:r>
            </a:p>
            <a:p>
              <a:pPr algn="l">
                <a:lnSpc>
                  <a:spcPts val="518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129126" y="1903782"/>
            <a:ext cx="4203023" cy="659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5"/>
              </a:lnSpc>
              <a:spcBef>
                <a:spcPct val="0"/>
              </a:spcBef>
            </a:pPr>
            <a:r>
              <a:rPr lang="en-US" sz="45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 Paper: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0212" y="2925035"/>
            <a:ext cx="16999088" cy="48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9"/>
              </a:lnSpc>
              <a:spcBef>
                <a:spcPct val="0"/>
              </a:spcBef>
            </a:pPr>
            <a:r>
              <a:rPr lang="en-US" b="true" sz="337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http://vrs.amsi.org.au/wp-content/uploads/sites/6/2014/09/AMSI_final_Io_Kuan_Vong.pdf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3924526"/>
            <a:ext cx="3628189" cy="70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Papers:</a:t>
            </a: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4978753"/>
            <a:ext cx="17259300" cy="44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https://ocw.mit.edu/courses/6-041sc-probabilistic-systems-analysis-and-applied-probability-fall-2013/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5786474"/>
            <a:ext cx="10603512" cy="47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https://www.britannica.com/topic/Poisson-distribution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6760691"/>
            <a:ext cx="16736994" cy="855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https://www.khanacademy.org/math/statistics-probability/modeling-distributions-of-data/normal-distributions-library/a/normal-distributions-review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7788779"/>
            <a:ext cx="12782934" cy="47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https://ops.fhwa.dot.gov/publications/fhwahop08024/chapter5.htm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8546973"/>
            <a:ext cx="9421352" cy="47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https://en.wikipedia.org/wiki/Queueing_theory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370872" y="10134600"/>
            <a:ext cx="3898078" cy="158248"/>
            <a:chOff x="0" y="0"/>
            <a:chExt cx="5197437" cy="2109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DAHFb6yY2Ec</dc:identifier>
  <dcterms:modified xsi:type="dcterms:W3CDTF">2011-08-01T06:04:30Z</dcterms:modified>
  <cp:revision>1</cp:revision>
  <dc:title>viva ppt.pptx</dc:title>
</cp:coreProperties>
</file>